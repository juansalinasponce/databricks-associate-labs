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Z18_NH4A1242MG2V50QO45G2A414H7-d5045602-77de-4e4b-b08e-bf308b2ef8ad-nztldgj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65" r:id="rId4"/>
    <p:sldId id="326" r:id="rId5"/>
    <p:sldId id="329" r:id="rId6"/>
    <p:sldId id="262" r:id="rId7"/>
    <p:sldId id="335" r:id="rId8"/>
    <p:sldId id="331" r:id="rId9"/>
    <p:sldId id="266" r:id="rId10"/>
    <p:sldId id="270" r:id="rId11"/>
    <p:sldId id="332" r:id="rId12"/>
    <p:sldId id="338" r:id="rId13"/>
    <p:sldId id="337" r:id="rId14"/>
    <p:sldId id="339" r:id="rId15"/>
    <p:sldId id="340" r:id="rId16"/>
    <p:sldId id="341" r:id="rId17"/>
    <p:sldId id="342" r:id="rId18"/>
    <p:sldId id="343" r:id="rId19"/>
    <p:sldId id="345" r:id="rId20"/>
    <p:sldId id="344" r:id="rId21"/>
    <p:sldId id="328" r:id="rId22"/>
    <p:sldId id="346" r:id="rId23"/>
    <p:sldId id="263" r:id="rId2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F80"/>
    <a:srgbClr val="FCFEFB"/>
    <a:srgbClr val="0165FE"/>
    <a:srgbClr val="00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61" autoAdjust="0"/>
    <p:restoredTop sz="94556"/>
  </p:normalViewPr>
  <p:slideViewPr>
    <p:cSldViewPr snapToGrid="0">
      <p:cViewPr varScale="1">
        <p:scale>
          <a:sx n="114" d="100"/>
          <a:sy n="114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DA533-BFA2-2F4F-9639-D9CE0517BCD7}" type="datetimeFigureOut">
              <a:rPr lang="es-CL" smtClean="0"/>
              <a:t>28-09-26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99827-1AF2-4C4C-ADB0-B7063890D2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089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CA76-C628-3965-1246-9981BF76C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0F748-918C-FD8B-D5CE-9F5CCDE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CA4A4-352A-8D1C-85C5-81CEB1D8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4008E-3EC5-91A1-92FB-0A1C8B3C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381673-85DE-DE17-5106-26BD943C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202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08914-3397-86C9-0E64-84AA5E8B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49957-43E8-4583-3B99-9EF4FD4D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56EF0-7EB1-1EBD-DCD7-86B7B42C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B0777-1BA8-A953-1244-417EC7AA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86DE1C-7BFF-C080-B275-7E0E968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973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6AE36-51B8-1BCF-5E3F-ED5328B5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1CAC3D-D6F9-6AE5-C526-FA6259B37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D7C410-8043-1FC0-79E3-155ADF1E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3544E-C118-F000-69C3-0DCD63D0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D90E4-26D2-B42E-81F1-1F1049C2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567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CC2E1-CFC4-F263-942A-D4834244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D5DF25-589E-CAF5-1EC1-94FA632AF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F9E3BB-54EF-58BF-948C-0009CCFE7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919AAE-6E84-3DB8-87DB-8ABD1A1EF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53958A-5C66-E512-C8B7-EE9478AF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A86341-4D0B-723D-5B56-5B1E387D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774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BEDEF-5C78-14A3-2FA9-0C987D92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8809E8-992A-F1DA-2B42-7D065AAD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433712-7FA9-9968-5C34-7A2081F86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AB3E84-E7B7-0B26-646E-9DF087471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B8C2A3-689C-64CC-F0B4-377101CC7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00A0C1-BE0E-3733-E266-005CB677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C5FAB1-B39E-ADB8-E990-A10B0F35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11B6C0-7B8A-B76F-C07C-A7084DA1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877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B12A7-88E4-A8D6-E5A7-C8C5F64F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7044FE-BFDE-5E7B-9251-4262E317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AEE08F-D41A-E367-4F39-03515EE1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025124-CFB0-E196-78C6-AFBBBD15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457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BC693B-A420-7F81-9FBB-2B40BBE4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204886-4A32-45D4-BC0A-5D00FBF3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C7E7AF-A687-8C5E-719A-5AD7F2E2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431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B5053-F1B7-1CAB-F33B-A7FA09FC1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168A6-ED4F-0F3E-E268-D57AA195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6E858F-810F-DFFA-FC8F-944E42C0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43541B-C48D-87D2-5463-315EC97E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75D1D8-6AE1-C9FB-941A-6DD151BF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26DFC5-E0B6-AFF1-D67F-3FF503D5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661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6F7B4-57CE-D11C-C6AB-6305F3C7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A7CE66-F31C-1B1C-4009-AD5C72169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1A203E-0ECE-7B79-40E2-B4F4F8DB2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CFC8F7-FCD4-6425-FF84-0AA7D19F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5114CA-DEC4-31F8-20FF-309BCD8C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F5A4E-77A8-BE72-06D3-E09F816B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596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39872-A507-7A17-AA0B-A1BC0DFA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FCE623-8892-BF39-D996-86A48B6D6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8B2AA-79E8-A791-F71F-585F9C9F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1CBE4C-A627-9470-45FA-FBE3809B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0EDE32-18F2-CA43-92BF-780FB6E1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672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D4F70C-028F-1A40-1FFE-2EB490255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684F7A-2EEF-2C1A-4FF1-F9EF94B01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F77440-C97D-24B2-2515-66B2C8A0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F0739D-0685-51DB-63E8-4C544AEC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51BEE-3993-AAEC-37E5-35484EA0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2142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E2771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195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5A9FEF-270A-E766-EF16-BB3E8918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4FCEC-D735-2EBF-AA4B-0D13F892D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3A9AF4-4C5B-CE38-B382-B0DE8AB21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39117-CC5E-4A69-B74D-6D75A437BDCD}" type="datetimeFigureOut">
              <a:rPr lang="es-PE" smtClean="0"/>
              <a:t>28/09/26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8C5546-1CC8-53E3-AAEF-7AD22C58D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8F8807-36BC-9F03-DD41-B0AA62F72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63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Z18_NH4A1242MG2V50QO45G2A414H7-d5045602-77de-4e4b-b08e-bf308b2ef8ad-nztldgj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128E963C-DD2A-A76A-055A-A6C6504223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EA5813B-9113-358B-A2D1-C1040012E1E3}"/>
              </a:ext>
            </a:extLst>
          </p:cNvPr>
          <p:cNvSpPr txBox="1"/>
          <p:nvPr/>
        </p:nvSpPr>
        <p:spPr>
          <a:xfrm>
            <a:off x="1596760" y="3527338"/>
            <a:ext cx="8454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dirty="0">
                <a:solidFill>
                  <a:srgbClr val="00EDFF"/>
                </a:solidFill>
                <a:latin typeface="Akhand-Black" panose="00000A00000000000000" pitchFamily="50" charset="0"/>
              </a:rPr>
              <a:t>Sesión 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CAC12C-068C-CBC7-8FAE-580A326E315E}"/>
              </a:ext>
            </a:extLst>
          </p:cNvPr>
          <p:cNvSpPr txBox="1"/>
          <p:nvPr/>
        </p:nvSpPr>
        <p:spPr>
          <a:xfrm>
            <a:off x="3452011" y="5153806"/>
            <a:ext cx="5111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solidFill>
                  <a:schemeClr val="bg1"/>
                </a:solidFill>
                <a:latin typeface="Geometria" panose="020B0403020204020204" pitchFamily="34" charset="0"/>
              </a:rPr>
              <a:t>Capacitación Corporativa</a:t>
            </a:r>
          </a:p>
          <a:p>
            <a:endParaRPr lang="es-PE" sz="2400" b="1" dirty="0">
              <a:solidFill>
                <a:schemeClr val="bg1"/>
              </a:solidFill>
              <a:latin typeface="Geometria" panose="020B04030202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B39128-D694-4065-8565-446730DC7A0C}"/>
              </a:ext>
            </a:extLst>
          </p:cNvPr>
          <p:cNvSpPr txBox="1"/>
          <p:nvPr/>
        </p:nvSpPr>
        <p:spPr>
          <a:xfrm>
            <a:off x="2830473" y="4457264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200" dirty="0">
                <a:solidFill>
                  <a:schemeClr val="bg1"/>
                </a:solidFill>
                <a:latin typeface="Akhand-Black" panose="00000A00000000000000" pitchFamily="50" charset="0"/>
              </a:rPr>
              <a:t>Docente: Juan Salinas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FDD6F-30BB-46E7-96FD-354703110466}"/>
              </a:ext>
            </a:extLst>
          </p:cNvPr>
          <p:cNvSpPr txBox="1"/>
          <p:nvPr/>
        </p:nvSpPr>
        <p:spPr>
          <a:xfrm>
            <a:off x="1767989" y="1808294"/>
            <a:ext cx="75284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Especialización en </a:t>
            </a:r>
          </a:p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         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Databricks</a:t>
            </a:r>
            <a:r>
              <a:rPr lang="es-ES" sz="4800" b="1" dirty="0">
                <a:solidFill>
                  <a:schemeClr val="bg1"/>
                </a:solidFill>
                <a:latin typeface="Aptos Narrow"/>
              </a:rPr>
              <a:t>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Associate</a:t>
            </a:r>
            <a:r>
              <a:rPr lang="es-ES" sz="3600" b="1" i="0" dirty="0">
                <a:solidFill>
                  <a:schemeClr val="bg1"/>
                </a:solidFill>
                <a:effectLst/>
                <a:latin typeface="Aptos Narrow"/>
              </a:rPr>
              <a:t>			</a:t>
            </a:r>
            <a:endParaRPr lang="es-PE" sz="5400" b="1" dirty="0">
              <a:solidFill>
                <a:schemeClr val="bg1"/>
              </a:solidFill>
              <a:latin typeface="Akhand-Black" panose="00000A00000000000000" pitchFamily="50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2E8C387-2A3E-FE3E-8A2A-8054AB23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03" y="5800399"/>
            <a:ext cx="1929007" cy="7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12C17C13-81DC-4F6A-81C8-5DDFE4EF4AA6}"/>
              </a:ext>
            </a:extLst>
          </p:cNvPr>
          <p:cNvSpPr txBox="1"/>
          <p:nvPr/>
        </p:nvSpPr>
        <p:spPr>
          <a:xfrm>
            <a:off x="444333" y="811162"/>
            <a:ext cx="5651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400" dirty="0">
                <a:solidFill>
                  <a:srgbClr val="0165FE"/>
                </a:solidFill>
                <a:latin typeface="Akhand-Black" panose="00000A00000000000000" pitchFamily="50" charset="0"/>
              </a:rPr>
              <a:t>Acuerdos para la sesión: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ECC36-6C75-498D-B9A6-62D73A20D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555" y="1819004"/>
            <a:ext cx="924723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⏰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Puntualidad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Se requiere puntualidad para un mejor desarrollo del curso.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📵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Celulares o Micrófonos en silencio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Es necesario que los celulares o Micrófonos permanezcan en silencio durante la clase para no interrumpir la sesión.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❓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Preguntas y consultas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Las preguntas pueden realizarse en cualquier momento. Las consultas muy particulares se revisarán al final de la clase.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📚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Cumplimiento de tareas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Realizar las actividades y/o tareas encomendadas dentro de los plazos establecidos.</a:t>
            </a:r>
          </a:p>
        </p:txBody>
      </p:sp>
    </p:spTree>
    <p:extLst>
      <p:ext uri="{BB962C8B-B14F-4D97-AF65-F5344CB8AC3E}">
        <p14:creationId xmlns:p14="http://schemas.microsoft.com/office/powerpoint/2010/main" val="37014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DB186E0-979E-E35F-4DA6-DA93A3F2CD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C6B1AB-59D0-EA0C-21BD-6FA38A8B5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24" y="508787"/>
            <a:ext cx="9240984" cy="616065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79C09D7-7E70-72E6-D6F8-0747895240D8}"/>
              </a:ext>
            </a:extLst>
          </p:cNvPr>
          <p:cNvSpPr/>
          <p:nvPr/>
        </p:nvSpPr>
        <p:spPr>
          <a:xfrm>
            <a:off x="1427357" y="3813716"/>
            <a:ext cx="457201" cy="345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18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3A8248-6AF4-9CD8-0C31-F4533C320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4" y="0"/>
            <a:ext cx="9917723" cy="661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4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-9525"/>
            <a:ext cx="12211050" cy="6877050"/>
            <a:chOff x="-9525" y="-9525"/>
            <a:chExt cx="12211050" cy="6877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344" y="1906523"/>
              <a:ext cx="2623566" cy="20292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7375" y="1991867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60" h="1828800">
                  <a:moveTo>
                    <a:pt x="2423160" y="0"/>
                  </a:moveTo>
                  <a:lnTo>
                    <a:pt x="0" y="0"/>
                  </a:lnTo>
                  <a:lnTo>
                    <a:pt x="0" y="1828799"/>
                  </a:lnTo>
                  <a:lnTo>
                    <a:pt x="2423160" y="182879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7375" y="1991867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60" h="45719">
                  <a:moveTo>
                    <a:pt x="2423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423160" y="4572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255" y="2156460"/>
              <a:ext cx="347471" cy="347472"/>
            </a:xfrm>
            <a:prstGeom prst="rect">
              <a:avLst/>
            </a:prstGeom>
          </p:spPr>
        </p:pic>
      </p:grp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xfrm>
            <a:off x="586841" y="22478"/>
            <a:ext cx="8871585" cy="1781810"/>
          </a:xfrm>
          <a:prstGeom prst="rect">
            <a:avLst/>
          </a:prstGeom>
        </p:spPr>
        <p:txBody>
          <a:bodyPr vert="horz" wrap="square" lIns="0" tIns="330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5"/>
              </a:spcBef>
            </a:pPr>
            <a:r>
              <a:rPr sz="4400" spc="110" dirty="0"/>
              <a:t>Databricks</a:t>
            </a:r>
            <a:endParaRPr sz="4400"/>
          </a:p>
          <a:p>
            <a:pPr marL="12700" marR="5080">
              <a:lnSpc>
                <a:spcPct val="136300"/>
              </a:lnSpc>
              <a:spcBef>
                <a:spcPts val="155"/>
              </a:spcBef>
            </a:pPr>
            <a:r>
              <a:rPr sz="1200" dirty="0">
                <a:solidFill>
                  <a:srgbClr val="2B404F"/>
                </a:solidFill>
              </a:rPr>
              <a:t>Databricks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es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una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plataforma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unificada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de</a:t>
            </a:r>
            <a:r>
              <a:rPr sz="1200" spc="-6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datos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e</a:t>
            </a:r>
            <a:r>
              <a:rPr sz="1200" spc="-60" dirty="0">
                <a:solidFill>
                  <a:srgbClr val="2B404F"/>
                </a:solidFill>
              </a:rPr>
              <a:t> </a:t>
            </a:r>
            <a:r>
              <a:rPr sz="1200" spc="-85" dirty="0">
                <a:solidFill>
                  <a:srgbClr val="2B404F"/>
                </a:solidFill>
              </a:rPr>
              <a:t>IA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que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ejecuta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cargas</a:t>
            </a:r>
            <a:r>
              <a:rPr sz="1200" spc="-3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de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spc="-20" dirty="0">
                <a:solidFill>
                  <a:srgbClr val="2B404F"/>
                </a:solidFill>
              </a:rPr>
              <a:t>trabajo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analíticas</a:t>
            </a:r>
            <a:r>
              <a:rPr sz="1200" spc="-60" dirty="0">
                <a:solidFill>
                  <a:srgbClr val="2B404F"/>
                </a:solidFill>
              </a:rPr>
              <a:t> y</a:t>
            </a:r>
            <a:r>
              <a:rPr sz="1200" spc="-7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operativas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sobre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una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base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abierta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spc="-50" dirty="0">
                <a:solidFill>
                  <a:srgbClr val="2B404F"/>
                </a:solidFill>
              </a:rPr>
              <a:t>y </a:t>
            </a:r>
            <a:r>
              <a:rPr sz="1200" spc="-10" dirty="0">
                <a:solidFill>
                  <a:srgbClr val="2B404F"/>
                </a:solidFill>
              </a:rPr>
              <a:t>gobernada.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Permite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las</a:t>
            </a:r>
            <a:r>
              <a:rPr sz="1200" spc="-4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organizaciones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crear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aplicaciones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de</a:t>
            </a:r>
            <a:r>
              <a:rPr sz="1200" spc="-35" dirty="0">
                <a:solidFill>
                  <a:srgbClr val="2B404F"/>
                </a:solidFill>
              </a:rPr>
              <a:t> </a:t>
            </a:r>
            <a:r>
              <a:rPr sz="1200" spc="-70" dirty="0">
                <a:solidFill>
                  <a:srgbClr val="2B404F"/>
                </a:solidFill>
              </a:rPr>
              <a:t>BI</a:t>
            </a:r>
            <a:r>
              <a:rPr sz="1200" spc="-6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e</a:t>
            </a:r>
            <a:r>
              <a:rPr sz="1200" spc="-40" dirty="0">
                <a:solidFill>
                  <a:srgbClr val="2B404F"/>
                </a:solidFill>
              </a:rPr>
              <a:t> </a:t>
            </a:r>
            <a:r>
              <a:rPr sz="1200" spc="-55" dirty="0">
                <a:solidFill>
                  <a:srgbClr val="2B404F"/>
                </a:solidFill>
              </a:rPr>
              <a:t>IA,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transmitir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spc="-60" dirty="0">
                <a:solidFill>
                  <a:srgbClr val="2B404F"/>
                </a:solidFill>
              </a:rPr>
              <a:t>y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analizar</a:t>
            </a:r>
            <a:r>
              <a:rPr sz="1200" spc="-7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datos,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spc="-60" dirty="0">
                <a:solidFill>
                  <a:srgbClr val="2B404F"/>
                </a:solidFill>
              </a:rPr>
              <a:t>y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procesar</a:t>
            </a:r>
            <a:r>
              <a:rPr sz="1200" spc="-6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operaciones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di</a:t>
            </a:r>
            <a:r>
              <a:rPr sz="1200" spc="-19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arias</a:t>
            </a:r>
            <a:r>
              <a:rPr sz="1200" spc="-35" dirty="0">
                <a:solidFill>
                  <a:srgbClr val="2B404F"/>
                </a:solidFill>
              </a:rPr>
              <a:t> </a:t>
            </a:r>
            <a:r>
              <a:rPr sz="1200" spc="-25" dirty="0">
                <a:solidFill>
                  <a:srgbClr val="2B404F"/>
                </a:solidFill>
              </a:rPr>
              <a:t>con </a:t>
            </a:r>
            <a:r>
              <a:rPr sz="1200" spc="-10" dirty="0">
                <a:solidFill>
                  <a:srgbClr val="2B404F"/>
                </a:solidFill>
              </a:rPr>
              <a:t>seguridad,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rendimiento</a:t>
            </a:r>
            <a:r>
              <a:rPr sz="1200" spc="-60" dirty="0">
                <a:solidFill>
                  <a:srgbClr val="2B404F"/>
                </a:solidFill>
              </a:rPr>
              <a:t> y</a:t>
            </a:r>
            <a:r>
              <a:rPr sz="1200" spc="-4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gobernanza</a:t>
            </a:r>
            <a:r>
              <a:rPr sz="1200" spc="-4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consistentes,</a:t>
            </a:r>
            <a:r>
              <a:rPr sz="1200" spc="-8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todo</a:t>
            </a:r>
            <a:r>
              <a:rPr sz="1200" spc="-5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ello</a:t>
            </a:r>
            <a:r>
              <a:rPr sz="1200" spc="-4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sin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añadir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complejidad</a:t>
            </a:r>
            <a:r>
              <a:rPr sz="1200" spc="-5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ni</a:t>
            </a:r>
            <a:r>
              <a:rPr sz="1200" spc="-35" dirty="0">
                <a:solidFill>
                  <a:srgbClr val="2B404F"/>
                </a:solidFill>
              </a:rPr>
              <a:t> </a:t>
            </a:r>
            <a:r>
              <a:rPr sz="1200" spc="-20" dirty="0">
                <a:solidFill>
                  <a:srgbClr val="2B404F"/>
                </a:solidFill>
              </a:rPr>
              <a:t>tener</a:t>
            </a:r>
            <a:r>
              <a:rPr sz="1200" spc="-60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que</a:t>
            </a:r>
            <a:r>
              <a:rPr sz="1200" spc="-35" dirty="0">
                <a:solidFill>
                  <a:srgbClr val="2B404F"/>
                </a:solidFill>
              </a:rPr>
              <a:t> </a:t>
            </a:r>
            <a:r>
              <a:rPr sz="1200" dirty="0">
                <a:solidFill>
                  <a:srgbClr val="2B404F"/>
                </a:solidFill>
              </a:rPr>
              <a:t>copiar</a:t>
            </a:r>
            <a:r>
              <a:rPr sz="1200" spc="-60" dirty="0">
                <a:solidFill>
                  <a:srgbClr val="2B404F"/>
                </a:solidFill>
              </a:rPr>
              <a:t> </a:t>
            </a:r>
            <a:r>
              <a:rPr sz="1200" spc="-10" dirty="0">
                <a:solidFill>
                  <a:srgbClr val="2B404F"/>
                </a:solidFill>
              </a:rPr>
              <a:t>datos.</a:t>
            </a:r>
            <a:endParaRPr sz="1200"/>
          </a:p>
        </p:txBody>
      </p:sp>
      <p:sp>
        <p:nvSpPr>
          <p:cNvPr id="7" name="object 7"/>
          <p:cNvSpPr txBox="1"/>
          <p:nvPr/>
        </p:nvSpPr>
        <p:spPr>
          <a:xfrm>
            <a:off x="587375" y="2228214"/>
            <a:ext cx="2423160" cy="114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Apache</a:t>
            </a:r>
            <a:r>
              <a:rPr sz="1100" b="1" spc="-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14E71"/>
                </a:solidFill>
                <a:latin typeface="Trebuchet MS"/>
                <a:cs typeface="Trebuchet MS"/>
              </a:rPr>
              <a:t>Spark</a:t>
            </a:r>
            <a:r>
              <a:rPr sz="1100" b="1" spc="-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Nativo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rebuchet MS"/>
              <a:cs typeface="Trebuchet MS"/>
            </a:endParaRPr>
          </a:p>
          <a:p>
            <a:pPr marL="227965" marR="325120">
              <a:lnSpc>
                <a:spcPct val="124900"/>
              </a:lnSpc>
            </a:pP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Motor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procesamiento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distribuido ultra-rápido.</a:t>
            </a:r>
            <a:r>
              <a:rPr sz="950" spc="-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Procesa</a:t>
            </a:r>
            <a:r>
              <a:rPr sz="950" spc="-4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petabytes</a:t>
            </a:r>
            <a:r>
              <a:rPr sz="950" spc="-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2B404F"/>
                </a:solidFill>
                <a:latin typeface="Tahoma"/>
                <a:cs typeface="Tahoma"/>
              </a:rPr>
              <a:t>de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datos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minutos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con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computación en</a:t>
            </a:r>
            <a:r>
              <a:rPr sz="9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memoria.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80944" y="1906523"/>
            <a:ext cx="2623820" cy="2029460"/>
            <a:chOff x="2980944" y="1906523"/>
            <a:chExt cx="2623820" cy="20294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0944" y="1906523"/>
              <a:ext cx="2623566" cy="20292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01975" y="1991867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60" h="1828800">
                  <a:moveTo>
                    <a:pt x="2423160" y="0"/>
                  </a:moveTo>
                  <a:lnTo>
                    <a:pt x="0" y="0"/>
                  </a:lnTo>
                  <a:lnTo>
                    <a:pt x="0" y="1828799"/>
                  </a:lnTo>
                  <a:lnTo>
                    <a:pt x="2423160" y="182879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01975" y="1991867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60" h="45719">
                  <a:moveTo>
                    <a:pt x="2423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423160" y="4572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4855" y="2156459"/>
              <a:ext cx="347472" cy="34747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101975" y="2228214"/>
            <a:ext cx="2423160" cy="114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5"/>
              </a:spcBef>
            </a:pPr>
            <a:r>
              <a:rPr sz="1100" b="1" spc="-30" dirty="0">
                <a:solidFill>
                  <a:srgbClr val="114E71"/>
                </a:solidFill>
                <a:latin typeface="Trebuchet MS"/>
                <a:cs typeface="Trebuchet MS"/>
              </a:rPr>
              <a:t>Arquitectura</a:t>
            </a:r>
            <a:r>
              <a:rPr sz="1100" b="1" spc="-80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Lakehouse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rebuchet MS"/>
              <a:cs typeface="Trebuchet MS"/>
            </a:endParaRPr>
          </a:p>
          <a:p>
            <a:pPr marL="229235" marR="307975">
              <a:lnSpc>
                <a:spcPct val="124900"/>
              </a:lnSpc>
            </a:pP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Combina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flexibilidad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un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B404F"/>
                </a:solidFill>
                <a:latin typeface="Tahoma"/>
                <a:cs typeface="Tahoma"/>
              </a:rPr>
              <a:t>Data Lake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con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confiabilidad</a:t>
            </a:r>
            <a:r>
              <a:rPr sz="950" spc="-5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un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B404F"/>
                </a:solidFill>
                <a:latin typeface="Tahoma"/>
                <a:cs typeface="Tahoma"/>
              </a:rPr>
              <a:t>Data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Warehouse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una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sola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B404F"/>
                </a:solidFill>
                <a:latin typeface="Tahoma"/>
                <a:cs typeface="Tahoma"/>
              </a:rPr>
              <a:t>capa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unificada.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95544" y="1906523"/>
            <a:ext cx="2623820" cy="2029460"/>
            <a:chOff x="5495544" y="1906523"/>
            <a:chExt cx="2623820" cy="20294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544" y="1906523"/>
              <a:ext cx="2623566" cy="20292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16575" y="1991867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59" h="1828800">
                  <a:moveTo>
                    <a:pt x="2423159" y="0"/>
                  </a:moveTo>
                  <a:lnTo>
                    <a:pt x="0" y="0"/>
                  </a:lnTo>
                  <a:lnTo>
                    <a:pt x="0" y="1828799"/>
                  </a:lnTo>
                  <a:lnTo>
                    <a:pt x="2423159" y="1828799"/>
                  </a:lnTo>
                  <a:lnTo>
                    <a:pt x="2423159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6575" y="1991867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59" h="45719">
                  <a:moveTo>
                    <a:pt x="2423159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423159" y="45720"/>
                  </a:lnTo>
                  <a:lnTo>
                    <a:pt x="242315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9455" y="2156459"/>
              <a:ext cx="347472" cy="34747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616575" y="2228214"/>
            <a:ext cx="2423160" cy="114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114E71"/>
                </a:solidFill>
                <a:latin typeface="Trebuchet MS"/>
                <a:cs typeface="Trebuchet MS"/>
              </a:rPr>
              <a:t>ML</a:t>
            </a:r>
            <a:r>
              <a:rPr sz="1100" b="1" spc="-110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270" dirty="0">
                <a:solidFill>
                  <a:srgbClr val="114E71"/>
                </a:solidFill>
                <a:latin typeface="Trebuchet MS"/>
                <a:cs typeface="Trebuchet MS"/>
              </a:rPr>
              <a:t>s</a:t>
            </a:r>
            <a:r>
              <a:rPr sz="1100" b="1" spc="-9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IA</a:t>
            </a:r>
            <a:r>
              <a:rPr sz="1100" b="1" spc="-9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Integrada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rebuchet MS"/>
              <a:cs typeface="Trebuchet MS"/>
            </a:endParaRPr>
          </a:p>
          <a:p>
            <a:pPr marL="229235" marR="424180">
              <a:lnSpc>
                <a:spcPct val="124900"/>
              </a:lnSpc>
            </a:pP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MLflow,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AutoML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modelos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2B404F"/>
                </a:solidFill>
                <a:latin typeface="Tahoma"/>
                <a:cs typeface="Tahoma"/>
              </a:rPr>
              <a:t>IA generativa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listos</a:t>
            </a:r>
            <a:r>
              <a:rPr sz="950" spc="-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para</a:t>
            </a:r>
            <a:r>
              <a:rPr sz="950" spc="-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producción. </a:t>
            </a:r>
            <a:r>
              <a:rPr sz="950" spc="-20" dirty="0">
                <a:solidFill>
                  <a:srgbClr val="2B404F"/>
                </a:solidFill>
                <a:latin typeface="Tahoma"/>
                <a:cs typeface="Tahoma"/>
              </a:rPr>
              <a:t>Entrena,</a:t>
            </a:r>
            <a:r>
              <a:rPr sz="9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versiona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despliega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modelos</a:t>
            </a:r>
            <a:r>
              <a:rPr sz="950" spc="-1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fácilmente.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6344" y="3845026"/>
            <a:ext cx="2623820" cy="2029460"/>
            <a:chOff x="466344" y="3845026"/>
            <a:chExt cx="2623820" cy="202946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344" y="3845026"/>
              <a:ext cx="2623566" cy="202920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7375" y="3930383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60" h="1828800">
                  <a:moveTo>
                    <a:pt x="242316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423160" y="182880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7375" y="3930395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60" h="45720">
                  <a:moveTo>
                    <a:pt x="242316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423160" y="4571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0255" y="4094987"/>
              <a:ext cx="347471" cy="34747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87375" y="4166996"/>
            <a:ext cx="2423160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Delta</a:t>
            </a:r>
            <a:r>
              <a:rPr sz="1100" b="1" spc="-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114E71"/>
                </a:solidFill>
                <a:latin typeface="Trebuchet MS"/>
                <a:cs typeface="Trebuchet MS"/>
              </a:rPr>
              <a:t>Lake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rebuchet MS"/>
              <a:cs typeface="Trebuchet MS"/>
            </a:endParaRPr>
          </a:p>
          <a:p>
            <a:pPr marL="227965" marR="358140">
              <a:lnSpc>
                <a:spcPct val="124900"/>
              </a:lnSpc>
            </a:pP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Formato</a:t>
            </a:r>
            <a:r>
              <a:rPr sz="9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almacenamiento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B404F"/>
                </a:solidFill>
                <a:latin typeface="Tahoma"/>
                <a:cs typeface="Tahoma"/>
              </a:rPr>
              <a:t>open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source</a:t>
            </a:r>
            <a:r>
              <a:rPr sz="950" spc="-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con</a:t>
            </a:r>
            <a:r>
              <a:rPr sz="950" spc="-1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transacciones</a:t>
            </a:r>
            <a:r>
              <a:rPr sz="950" spc="-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ACID, versionado</a:t>
            </a:r>
            <a:r>
              <a:rPr sz="9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datos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optimización automática.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80944" y="3845026"/>
            <a:ext cx="2623820" cy="2029460"/>
            <a:chOff x="2980944" y="3845026"/>
            <a:chExt cx="2623820" cy="202946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0944" y="3845026"/>
              <a:ext cx="2623566" cy="202920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101975" y="3930383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60" h="1828800">
                  <a:moveTo>
                    <a:pt x="242316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423160" y="1828800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01975" y="3930395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60" h="45720">
                  <a:moveTo>
                    <a:pt x="242316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423160" y="45719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4855" y="4094987"/>
              <a:ext cx="347472" cy="3474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101975" y="4166996"/>
            <a:ext cx="2423160" cy="96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sz="1100" b="1" spc="-35" dirty="0">
                <a:solidFill>
                  <a:srgbClr val="114E71"/>
                </a:solidFill>
                <a:latin typeface="Trebuchet MS"/>
                <a:cs typeface="Trebuchet MS"/>
              </a:rPr>
              <a:t>Unity</a:t>
            </a:r>
            <a:r>
              <a:rPr sz="1100" b="1" spc="-9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14E71"/>
                </a:solidFill>
                <a:latin typeface="Trebuchet MS"/>
                <a:cs typeface="Trebuchet MS"/>
              </a:rPr>
              <a:t>Catalog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rebuchet MS"/>
              <a:cs typeface="Trebuchet MS"/>
            </a:endParaRPr>
          </a:p>
          <a:p>
            <a:pPr marL="229235" marR="306070">
              <a:lnSpc>
                <a:spcPct val="125299"/>
              </a:lnSpc>
            </a:pP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Gobernanza</a:t>
            </a:r>
            <a:r>
              <a:rPr sz="9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unificada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datos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e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2B404F"/>
                </a:solidFill>
                <a:latin typeface="Tahoma"/>
                <a:cs typeface="Tahoma"/>
              </a:rPr>
              <a:t>IA.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Control</a:t>
            </a:r>
            <a:r>
              <a:rPr sz="950" spc="-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acceso</a:t>
            </a:r>
            <a:r>
              <a:rPr sz="950" spc="-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centralizado,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linaje</a:t>
            </a:r>
            <a:r>
              <a:rPr sz="9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datos</a:t>
            </a:r>
            <a:r>
              <a:rPr sz="9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auditoría</a:t>
            </a:r>
            <a:r>
              <a:rPr sz="9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completa.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95544" y="3845026"/>
            <a:ext cx="2623820" cy="2029460"/>
            <a:chOff x="5495544" y="3845026"/>
            <a:chExt cx="2623820" cy="202946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544" y="3845026"/>
              <a:ext cx="2623566" cy="202920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616575" y="3930383"/>
              <a:ext cx="2423160" cy="1828800"/>
            </a:xfrm>
            <a:custGeom>
              <a:avLst/>
              <a:gdLst/>
              <a:ahLst/>
              <a:cxnLst/>
              <a:rect l="l" t="t" r="r" b="b"/>
              <a:pathLst>
                <a:path w="2423159" h="1828800">
                  <a:moveTo>
                    <a:pt x="2423159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423159" y="1828800"/>
                  </a:lnTo>
                  <a:lnTo>
                    <a:pt x="2423159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16575" y="3930395"/>
              <a:ext cx="2423160" cy="45720"/>
            </a:xfrm>
            <a:custGeom>
              <a:avLst/>
              <a:gdLst/>
              <a:ahLst/>
              <a:cxnLst/>
              <a:rect l="l" t="t" r="r" b="b"/>
              <a:pathLst>
                <a:path w="2423159" h="45720">
                  <a:moveTo>
                    <a:pt x="2423159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2423159" y="45719"/>
                  </a:lnTo>
                  <a:lnTo>
                    <a:pt x="242315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99455" y="4094987"/>
              <a:ext cx="347472" cy="34747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616575" y="4166996"/>
            <a:ext cx="2423160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14E71"/>
                </a:solidFill>
                <a:latin typeface="Trebuchet MS"/>
                <a:cs typeface="Trebuchet MS"/>
              </a:rPr>
              <a:t>Colaboración</a:t>
            </a:r>
            <a:r>
              <a:rPr sz="1100" b="1" spc="-9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114E71"/>
                </a:solidFill>
                <a:latin typeface="Trebuchet MS"/>
                <a:cs typeface="Trebuchet MS"/>
              </a:rPr>
              <a:t>Total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rebuchet MS"/>
              <a:cs typeface="Trebuchet MS"/>
            </a:endParaRPr>
          </a:p>
          <a:p>
            <a:pPr marL="229235" marR="289560">
              <a:lnSpc>
                <a:spcPct val="125299"/>
              </a:lnSpc>
            </a:pP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Notebooks</a:t>
            </a:r>
            <a:r>
              <a:rPr sz="9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interactivos</a:t>
            </a:r>
            <a:r>
              <a:rPr sz="9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compartidos para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Python,</a:t>
            </a:r>
            <a:r>
              <a:rPr sz="9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SQL,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2B404F"/>
                </a:solidFill>
                <a:latin typeface="Tahoma"/>
                <a:cs typeface="Tahoma"/>
              </a:rPr>
              <a:t>R</a:t>
            </a:r>
            <a:r>
              <a:rPr sz="9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Scala.</a:t>
            </a:r>
            <a:endParaRPr sz="950">
              <a:latin typeface="Tahoma"/>
              <a:cs typeface="Tahoma"/>
            </a:endParaRPr>
          </a:p>
          <a:p>
            <a:pPr marL="229235" marR="610235">
              <a:lnSpc>
                <a:spcPct val="124200"/>
              </a:lnSpc>
              <a:spcBef>
                <a:spcPts val="15"/>
              </a:spcBef>
            </a:pP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Dashboards</a:t>
            </a:r>
            <a:r>
              <a:rPr sz="9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5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9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B404F"/>
                </a:solidFill>
                <a:latin typeface="Tahoma"/>
                <a:cs typeface="Tahoma"/>
              </a:rPr>
              <a:t>flujos</a:t>
            </a:r>
            <a:r>
              <a:rPr sz="9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9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B404F"/>
                </a:solidFill>
                <a:latin typeface="Tahoma"/>
                <a:cs typeface="Tahoma"/>
              </a:rPr>
              <a:t>trabajo integrados.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39" name="object 39" descr="data inteligence engine 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56092" y="2037588"/>
            <a:ext cx="3500501" cy="3263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6841" y="339978"/>
            <a:ext cx="66211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30" dirty="0"/>
              <a:t>Control</a:t>
            </a:r>
            <a:r>
              <a:rPr sz="4400" spc="-580" dirty="0"/>
              <a:t> </a:t>
            </a:r>
            <a:r>
              <a:rPr sz="4400" dirty="0"/>
              <a:t>Plane</a:t>
            </a:r>
            <a:r>
              <a:rPr sz="4400" spc="-755" dirty="0"/>
              <a:t> </a:t>
            </a:r>
            <a:r>
              <a:rPr sz="4400" spc="-55" dirty="0"/>
              <a:t>vs</a:t>
            </a:r>
            <a:r>
              <a:rPr sz="4400" spc="-780" dirty="0"/>
              <a:t> </a:t>
            </a:r>
            <a:r>
              <a:rPr sz="4400" spc="-25" dirty="0"/>
              <a:t>Data</a:t>
            </a:r>
            <a:r>
              <a:rPr sz="4400" spc="-775" dirty="0"/>
              <a:t> </a:t>
            </a:r>
            <a:r>
              <a:rPr sz="4400" spc="-10" dirty="0"/>
              <a:t>Plane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458467" y="1222209"/>
            <a:ext cx="9455150" cy="5078095"/>
            <a:chOff x="1458467" y="1222209"/>
            <a:chExt cx="9455150" cy="5078095"/>
          </a:xfrm>
        </p:grpSpPr>
        <p:pic>
          <p:nvPicPr>
            <p:cNvPr id="4" name="object 4" descr="Diagram: Databricks architecture for AW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467" y="1222209"/>
              <a:ext cx="9454896" cy="5077968"/>
            </a:xfrm>
            <a:prstGeom prst="rect">
              <a:avLst/>
            </a:prstGeom>
          </p:spPr>
        </p:pic>
        <p:pic>
          <p:nvPicPr>
            <p:cNvPr id="5" name="object 5" descr="Diagram: Databricks architecture for AWS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3285" y="1418031"/>
              <a:ext cx="8885427" cy="45069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F1B4F25-F6BC-6EE7-4B7E-8C33482DD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5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92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Databricks</a:t>
            </a:r>
            <a:r>
              <a:rPr spc="-130" dirty="0"/>
              <a:t> </a:t>
            </a:r>
            <a:r>
              <a:rPr spc="65" dirty="0"/>
              <a:t>Runtime</a:t>
            </a:r>
            <a:r>
              <a:rPr spc="-135" dirty="0"/>
              <a:t> </a:t>
            </a:r>
            <a:r>
              <a:rPr spc="-10" dirty="0"/>
              <a:t>(DBR)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708835"/>
            <a:ext cx="9755505" cy="51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900"/>
              </a:lnSpc>
              <a:spcBef>
                <a:spcPts val="100"/>
              </a:spcBef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DBR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es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entorno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ejecución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que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corre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cada</a:t>
            </a:r>
            <a:r>
              <a:rPr sz="11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cluster.</a:t>
            </a:r>
            <a:r>
              <a:rPr sz="11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versión</a:t>
            </a:r>
            <a:r>
              <a:rPr sz="11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elegida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determina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las</a:t>
            </a:r>
            <a:r>
              <a:rPr sz="11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librerías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disponibles,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rendimiento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11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compatibilidad.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B404F"/>
                </a:solidFill>
                <a:latin typeface="Tahoma"/>
                <a:cs typeface="Tahoma"/>
              </a:rPr>
              <a:t>Para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producción,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siempre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se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recomiendan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versiones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b="1" spc="-35" dirty="0">
                <a:solidFill>
                  <a:srgbClr val="2B404F"/>
                </a:solidFill>
                <a:latin typeface="Trebuchet MS"/>
                <a:cs typeface="Trebuchet MS"/>
              </a:rPr>
              <a:t>LTS</a:t>
            </a:r>
            <a:r>
              <a:rPr sz="1150" b="1" spc="-75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b="1" spc="-40" dirty="0">
                <a:solidFill>
                  <a:srgbClr val="2B404F"/>
                </a:solidFill>
                <a:latin typeface="Trebuchet MS"/>
                <a:cs typeface="Trebuchet MS"/>
              </a:rPr>
              <a:t>(Long</a:t>
            </a:r>
            <a:r>
              <a:rPr sz="1150" b="1" spc="-60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b="1" spc="-55" dirty="0">
                <a:solidFill>
                  <a:srgbClr val="2B404F"/>
                </a:solidFill>
                <a:latin typeface="Trebuchet MS"/>
                <a:cs typeface="Trebuchet MS"/>
              </a:rPr>
              <a:t>Term</a:t>
            </a:r>
            <a:r>
              <a:rPr sz="1150" b="1" spc="-80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b="1" spc="-25" dirty="0">
                <a:solidFill>
                  <a:srgbClr val="2B404F"/>
                </a:solidFill>
                <a:latin typeface="Trebuchet MS"/>
                <a:cs typeface="Trebuchet MS"/>
              </a:rPr>
              <a:t>Support)</a:t>
            </a:r>
            <a:r>
              <a:rPr sz="1150" b="1" spc="-30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por</a:t>
            </a:r>
            <a:r>
              <a:rPr sz="11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su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estabilidad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soporte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extendido.</a:t>
            </a:r>
            <a:endParaRPr sz="115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1025" y="2468498"/>
          <a:ext cx="10220325" cy="2922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Característica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F1F1F1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150" b="1" spc="-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</a:t>
                      </a:r>
                      <a:r>
                        <a:rPr sz="1150" b="1" spc="-1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Estándar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150" b="1" spc="-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</a:t>
                      </a:r>
                      <a:r>
                        <a:rPr sz="1150" b="1" spc="-1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ML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150" b="1" spc="-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</a:t>
                      </a:r>
                      <a:r>
                        <a:rPr sz="1150" b="1" spc="-18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50" b="1" spc="-10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Photon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F1F1F1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b="1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Apache</a:t>
                      </a:r>
                      <a:r>
                        <a:rPr sz="1150" spc="8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Spark</a:t>
                      </a:r>
                      <a:r>
                        <a:rPr sz="1150" spc="-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+Delta</a:t>
                      </a:r>
                      <a:r>
                        <a:rPr sz="1150" spc="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 Estándar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+librerías</a:t>
                      </a:r>
                      <a:r>
                        <a:rPr sz="1150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ML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</a:t>
                      </a:r>
                      <a:r>
                        <a:rPr sz="1150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Estándar</a:t>
                      </a:r>
                      <a:r>
                        <a:rPr sz="1150" spc="-6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+motor</a:t>
                      </a:r>
                      <a:r>
                        <a:rPr sz="1150" spc="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C++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9525">
                      <a:solidFill>
                        <a:srgbClr val="FFFB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150" b="1" spc="-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Librerías </a:t>
                      </a: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adicionales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9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207645">
                        <a:lnSpc>
                          <a:spcPct val="1365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MLflow,</a:t>
                      </a:r>
                      <a:r>
                        <a:rPr sz="1150" spc="13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PyTorch,</a:t>
                      </a:r>
                      <a:r>
                        <a:rPr sz="1150" spc="13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scikit-learn, </a:t>
                      </a:r>
                      <a:r>
                        <a:rPr sz="1150" spc="3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XCBoost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Motor</a:t>
                      </a:r>
                      <a:r>
                        <a:rPr sz="1150" spc="28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vectorizado</a:t>
                      </a:r>
                      <a:r>
                        <a:rPr sz="1150" spc="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Photon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9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Caso</a:t>
                      </a:r>
                      <a:r>
                        <a:rPr sz="1150" b="1" spc="-1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50" b="1" spc="-1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4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150" b="1" spc="-16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ideal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Cargas</a:t>
                      </a:r>
                      <a:r>
                        <a:rPr sz="1150" spc="-7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generales</a:t>
                      </a:r>
                      <a:r>
                        <a:rPr sz="1150" spc="-7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ETL</a:t>
                      </a:r>
                      <a:r>
                        <a:rPr sz="1150" spc="-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50" spc="-9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SQL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10489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Entrenamiento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50" spc="-3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evaluación</a:t>
                      </a:r>
                      <a:endParaRPr sz="1150">
                        <a:latin typeface="Verdana"/>
                        <a:cs typeface="Verdana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50" spc="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50" spc="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modelos</a:t>
                      </a:r>
                      <a:r>
                        <a:rPr sz="1150" spc="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ML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Consultas</a:t>
                      </a:r>
                      <a:r>
                        <a:rPr sz="1150" spc="9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analíticas</a:t>
                      </a:r>
                      <a:r>
                        <a:rPr sz="1150" spc="10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SQL</a:t>
                      </a:r>
                      <a:r>
                        <a:rPr sz="1150" spc="114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150">
                        <a:latin typeface="Verdana"/>
                        <a:cs typeface="Verdana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alto</a:t>
                      </a:r>
                      <a:r>
                        <a:rPr sz="1150" spc="-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rendimiento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B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150" b="1" spc="-5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Versiones</a:t>
                      </a:r>
                      <a:r>
                        <a:rPr sz="1150" b="1" spc="-4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LTS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624840">
                        <a:lnSpc>
                          <a:spcPct val="136500"/>
                        </a:lnSpc>
                        <a:spcBef>
                          <a:spcPts val="215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Sí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150" spc="-14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recomendado</a:t>
                      </a:r>
                      <a:r>
                        <a:rPr sz="1150" spc="7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sz="1150" spc="3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producción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27305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665480">
                        <a:lnSpc>
                          <a:spcPct val="136500"/>
                        </a:lnSpc>
                        <a:spcBef>
                          <a:spcPts val="215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Sí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150" spc="-1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alineadas</a:t>
                      </a:r>
                      <a:r>
                        <a:rPr sz="1150" spc="-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50" spc="8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Estándar</a:t>
                      </a:r>
                      <a:r>
                        <a:rPr sz="1150" spc="-4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LTS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27305" marB="0">
                    <a:lnL w="9525">
                      <a:solidFill>
                        <a:srgbClr val="FFFBF5"/>
                      </a:solidFill>
                      <a:prstDash val="solid"/>
                    </a:lnL>
                    <a:lnR w="9525">
                      <a:solidFill>
                        <a:srgbClr val="FFFBF5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Sí</a:t>
                      </a:r>
                      <a:r>
                        <a:rPr sz="1150" spc="-6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r>
                        <a:rPr sz="1150" spc="-17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4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disponibles</a:t>
                      </a:r>
                      <a:r>
                        <a:rPr sz="1150" spc="-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sz="1150" spc="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DBR</a:t>
                      </a:r>
                      <a:endParaRPr sz="1150">
                        <a:latin typeface="Verdana"/>
                        <a:cs typeface="Verdana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50" spc="-7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12.x</a:t>
                      </a:r>
                      <a:r>
                        <a:rPr sz="1150" spc="-210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spc="-25" dirty="0">
                          <a:solidFill>
                            <a:srgbClr val="2B404F"/>
                          </a:solidFill>
                          <a:latin typeface="Verdana"/>
                          <a:cs typeface="Verdana"/>
                        </a:rPr>
                        <a:t>LTS</a:t>
                      </a:r>
                      <a:endParaRPr sz="1150">
                        <a:latin typeface="Verdana"/>
                        <a:cs typeface="Verdana"/>
                      </a:endParaRPr>
                    </a:p>
                  </a:txBody>
                  <a:tcPr marL="0" marR="0" marT="120014" marB="0">
                    <a:lnL w="9525">
                      <a:solidFill>
                        <a:srgbClr val="FFFB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>
                        <a:alpha val="1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4519" y="634441"/>
            <a:ext cx="6426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120" dirty="0"/>
              <a:t> </a:t>
            </a:r>
            <a:r>
              <a:rPr spc="50" dirty="0"/>
              <a:t>de</a:t>
            </a:r>
            <a:r>
              <a:rPr spc="-85" dirty="0"/>
              <a:t> </a:t>
            </a:r>
            <a:r>
              <a:rPr spc="135" dirty="0"/>
              <a:t>Cluster</a:t>
            </a:r>
            <a:r>
              <a:rPr spc="-135" dirty="0"/>
              <a:t> </a:t>
            </a:r>
            <a:r>
              <a:rPr dirty="0"/>
              <a:t>en</a:t>
            </a:r>
            <a:r>
              <a:rPr spc="-90" dirty="0"/>
              <a:t> </a:t>
            </a:r>
            <a:r>
              <a:rPr spc="95" dirty="0"/>
              <a:t>Databricks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643" y="1381175"/>
            <a:ext cx="10091420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1150" spc="-1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2B404F"/>
                </a:solidFill>
                <a:latin typeface="Tahoma"/>
                <a:cs typeface="Tahoma"/>
              </a:rPr>
              <a:t>elección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del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B404F"/>
                </a:solidFill>
                <a:latin typeface="Tahoma"/>
                <a:cs typeface="Tahoma"/>
              </a:rPr>
              <a:t>tipo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clustertiene</a:t>
            </a:r>
            <a:r>
              <a:rPr sz="1150" spc="-1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un</a:t>
            </a:r>
            <a:r>
              <a:rPr sz="1150" spc="-1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2B404F"/>
                </a:solidFill>
                <a:latin typeface="Tahoma"/>
                <a:cs typeface="Tahoma"/>
              </a:rPr>
              <a:t>impacto</a:t>
            </a:r>
            <a:r>
              <a:rPr sz="115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2B404F"/>
                </a:solidFill>
                <a:latin typeface="Tahoma"/>
                <a:cs typeface="Tahoma"/>
              </a:rPr>
              <a:t>directo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sz="1150" spc="-1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2B404F"/>
                </a:solidFill>
                <a:latin typeface="Tahoma"/>
                <a:cs typeface="Tahoma"/>
              </a:rPr>
              <a:t>los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2B404F"/>
                </a:solidFill>
                <a:latin typeface="Tahoma"/>
                <a:cs typeface="Tahoma"/>
              </a:rPr>
              <a:t>costos</a:t>
            </a:r>
            <a:r>
              <a:rPr sz="1150" spc="-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operativos</a:t>
            </a:r>
            <a:r>
              <a:rPr sz="1150" spc="-1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yen</a:t>
            </a:r>
            <a:r>
              <a:rPr sz="1150" spc="-1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la</a:t>
            </a:r>
            <a:r>
              <a:rPr sz="1150" spc="-1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B404F"/>
                </a:solidFill>
                <a:latin typeface="Tahoma"/>
                <a:cs typeface="Tahoma"/>
              </a:rPr>
              <a:t>estabilidad</a:t>
            </a:r>
            <a:r>
              <a:rPr sz="115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2B404F"/>
                </a:solidFill>
                <a:latin typeface="Tahoma"/>
                <a:cs typeface="Tahoma"/>
              </a:rPr>
              <a:t>los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B404F"/>
                </a:solidFill>
                <a:latin typeface="Tahoma"/>
                <a:cs typeface="Tahoma"/>
              </a:rPr>
              <a:t>pipelines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B404F"/>
                </a:solidFill>
                <a:latin typeface="Tahoma"/>
                <a:cs typeface="Tahoma"/>
              </a:rPr>
              <a:t>producción.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B404F"/>
                </a:solidFill>
                <a:latin typeface="Tahoma"/>
                <a:cs typeface="Tahoma"/>
              </a:rPr>
              <a:t>Esta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2B404F"/>
                </a:solidFill>
                <a:latin typeface="Tahoma"/>
                <a:cs typeface="Tahoma"/>
              </a:rPr>
              <a:t>distinción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aparece </a:t>
            </a:r>
            <a:r>
              <a:rPr sz="1150" spc="10" dirty="0">
                <a:solidFill>
                  <a:srgbClr val="2B404F"/>
                </a:solidFill>
                <a:latin typeface="Tahoma"/>
                <a:cs typeface="Tahoma"/>
              </a:rPr>
              <a:t>frecuentemente</a:t>
            </a:r>
            <a:r>
              <a:rPr sz="1150" spc="-1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B404F"/>
                </a:solidFill>
                <a:latin typeface="Tahoma"/>
                <a:cs typeface="Tahoma"/>
              </a:rPr>
              <a:t>en</a:t>
            </a:r>
            <a:r>
              <a:rPr sz="1150" spc="-1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sz="1150" spc="-1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examen</a:t>
            </a:r>
            <a:r>
              <a:rPr sz="1150" spc="-1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35" dirty="0">
                <a:solidFill>
                  <a:srgbClr val="2B404F"/>
                </a:solidFill>
                <a:latin typeface="Tahoma"/>
                <a:cs typeface="Tahoma"/>
              </a:rPr>
              <a:t>certificación.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2171699"/>
            <a:ext cx="3314700" cy="2466975"/>
          </a:xfrm>
          <a:custGeom>
            <a:avLst/>
            <a:gdLst/>
            <a:ahLst/>
            <a:cxnLst/>
            <a:rect l="l" t="t" r="r" b="b"/>
            <a:pathLst>
              <a:path w="3314700" h="2466975">
                <a:moveTo>
                  <a:pt x="3314700" y="16256"/>
                </a:moveTo>
                <a:lnTo>
                  <a:pt x="3298444" y="0"/>
                </a:lnTo>
                <a:lnTo>
                  <a:pt x="16268" y="0"/>
                </a:lnTo>
                <a:lnTo>
                  <a:pt x="0" y="16256"/>
                </a:lnTo>
                <a:lnTo>
                  <a:pt x="0" y="2450719"/>
                </a:lnTo>
                <a:lnTo>
                  <a:pt x="13868" y="2466467"/>
                </a:lnTo>
                <a:lnTo>
                  <a:pt x="16268" y="2466975"/>
                </a:lnTo>
                <a:lnTo>
                  <a:pt x="3298444" y="2466975"/>
                </a:lnTo>
                <a:lnTo>
                  <a:pt x="3300857" y="2466467"/>
                </a:lnTo>
                <a:lnTo>
                  <a:pt x="3314700" y="2450719"/>
                </a:lnTo>
                <a:lnTo>
                  <a:pt x="3314700" y="16256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108" y="2285492"/>
            <a:ext cx="2539365" cy="215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10" dirty="0">
                <a:solidFill>
                  <a:srgbClr val="114E71"/>
                </a:solidFill>
                <a:latin typeface="Trebuchet MS"/>
                <a:cs typeface="Trebuchet MS"/>
              </a:rPr>
              <a:t>All-Purpose</a:t>
            </a:r>
            <a:r>
              <a:rPr sz="1450" b="1" spc="5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114E71"/>
                </a:solidFill>
                <a:latin typeface="Trebuchet MS"/>
                <a:cs typeface="Trebuchet MS"/>
              </a:rPr>
              <a:t>Cluster</a:t>
            </a:r>
            <a:endParaRPr sz="1450">
              <a:latin typeface="Trebuchet MS"/>
              <a:cs typeface="Trebuchet MS"/>
            </a:endParaRPr>
          </a:p>
          <a:p>
            <a:pPr marL="424815" indent="-173355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424815" algn="l"/>
              </a:tabLst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Acceso</a:t>
            </a:r>
            <a:r>
              <a:rPr sz="11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interactivo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 multiusuario</a:t>
            </a:r>
            <a:endParaRPr sz="1150">
              <a:latin typeface="Tahoma"/>
              <a:cs typeface="Tahoma"/>
            </a:endParaRPr>
          </a:p>
          <a:p>
            <a:pPr marL="424180" marR="81280" indent="-172720">
              <a:lnSpc>
                <a:spcPct val="136500"/>
              </a:lnSpc>
              <a:spcBef>
                <a:spcPts val="335"/>
              </a:spcBef>
              <a:buFont typeface="Arial MT"/>
              <a:buChar char="•"/>
              <a:tabLst>
                <a:tab pos="424180" algn="l"/>
              </a:tabLst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Se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inicia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manualmente,</a:t>
            </a:r>
            <a:r>
              <a:rPr sz="11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persiste entre</a:t>
            </a:r>
            <a:r>
              <a:rPr sz="115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sesiones</a:t>
            </a:r>
            <a:endParaRPr sz="1150">
              <a:latin typeface="Tahoma"/>
              <a:cs typeface="Tahoma"/>
            </a:endParaRPr>
          </a:p>
          <a:p>
            <a:pPr marL="424815" indent="-17335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24815" algn="l"/>
              </a:tabLst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Alto</a:t>
            </a:r>
            <a:r>
              <a:rPr sz="11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costo: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factura</a:t>
            </a:r>
            <a:r>
              <a:rPr sz="11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aunque</a:t>
            </a:r>
            <a:r>
              <a:rPr sz="11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B404F"/>
                </a:solidFill>
                <a:latin typeface="Tahoma"/>
                <a:cs typeface="Tahoma"/>
              </a:rPr>
              <a:t>esté</a:t>
            </a:r>
            <a:endParaRPr sz="1150">
              <a:latin typeface="Tahoma"/>
              <a:cs typeface="Tahoma"/>
            </a:endParaRPr>
          </a:p>
          <a:p>
            <a:pPr marL="424180">
              <a:lnSpc>
                <a:spcPct val="100000"/>
              </a:lnSpc>
              <a:spcBef>
                <a:spcPts val="490"/>
              </a:spcBef>
            </a:pP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inactivo</a:t>
            </a:r>
            <a:endParaRPr sz="1150">
              <a:latin typeface="Tahoma"/>
              <a:cs typeface="Tahoma"/>
            </a:endParaRPr>
          </a:p>
          <a:p>
            <a:pPr marL="424180" marR="433070" indent="-172720">
              <a:lnSpc>
                <a:spcPct val="136500"/>
              </a:lnSpc>
              <a:spcBef>
                <a:spcPts val="495"/>
              </a:spcBef>
              <a:buFont typeface="Arial MT"/>
              <a:buChar char="•"/>
              <a:tabLst>
                <a:tab pos="424180" algn="l"/>
              </a:tabLst>
            </a:pPr>
            <a:r>
              <a:rPr sz="1150" b="1" dirty="0">
                <a:solidFill>
                  <a:srgbClr val="2B404F"/>
                </a:solidFill>
                <a:latin typeface="Trebuchet MS"/>
                <a:cs typeface="Trebuchet MS"/>
              </a:rPr>
              <a:t>Uso</a:t>
            </a:r>
            <a:r>
              <a:rPr sz="1150" b="1" spc="-30" dirty="0">
                <a:solidFill>
                  <a:srgbClr val="2B404F"/>
                </a:solidFill>
                <a:latin typeface="Trebuchet MS"/>
                <a:cs typeface="Trebuchet MS"/>
              </a:rPr>
              <a:t> correcto:</a:t>
            </a:r>
            <a:r>
              <a:rPr sz="1150" b="1" spc="-25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desarrollo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50" dirty="0">
                <a:solidFill>
                  <a:srgbClr val="2B404F"/>
                </a:solidFill>
                <a:latin typeface="Tahoma"/>
                <a:cs typeface="Tahoma"/>
              </a:rPr>
              <a:t>y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exploración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57650" y="2171699"/>
            <a:ext cx="3314700" cy="2466975"/>
          </a:xfrm>
          <a:custGeom>
            <a:avLst/>
            <a:gdLst/>
            <a:ahLst/>
            <a:cxnLst/>
            <a:rect l="l" t="t" r="r" b="b"/>
            <a:pathLst>
              <a:path w="3314700" h="2466975">
                <a:moveTo>
                  <a:pt x="3314700" y="16256"/>
                </a:moveTo>
                <a:lnTo>
                  <a:pt x="3298444" y="0"/>
                </a:lnTo>
                <a:lnTo>
                  <a:pt x="16256" y="0"/>
                </a:lnTo>
                <a:lnTo>
                  <a:pt x="0" y="16256"/>
                </a:lnTo>
                <a:lnTo>
                  <a:pt x="0" y="2450719"/>
                </a:lnTo>
                <a:lnTo>
                  <a:pt x="13843" y="2466467"/>
                </a:lnTo>
                <a:lnTo>
                  <a:pt x="16256" y="2466975"/>
                </a:lnTo>
                <a:lnTo>
                  <a:pt x="3298444" y="2466975"/>
                </a:lnTo>
                <a:lnTo>
                  <a:pt x="3300857" y="2466467"/>
                </a:lnTo>
                <a:lnTo>
                  <a:pt x="3314700" y="2450719"/>
                </a:lnTo>
                <a:lnTo>
                  <a:pt x="3314700" y="16256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97477" y="2285492"/>
            <a:ext cx="99441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solidFill>
                  <a:srgbClr val="114E71"/>
                </a:solidFill>
                <a:latin typeface="Trebuchet MS"/>
                <a:cs typeface="Trebuchet MS"/>
              </a:rPr>
              <a:t>Job</a:t>
            </a:r>
            <a:r>
              <a:rPr sz="1450" b="1" spc="-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114E71"/>
                </a:solidFill>
                <a:latin typeface="Trebuchet MS"/>
                <a:cs typeface="Trebuchet MS"/>
              </a:rPr>
              <a:t>Cluster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6745" y="2554020"/>
            <a:ext cx="2562225" cy="187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lnSpc>
                <a:spcPct val="1357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</a:tabLst>
            </a:pPr>
            <a:r>
              <a:rPr sz="1150" spc="-35" dirty="0">
                <a:solidFill>
                  <a:srgbClr val="2B404F"/>
                </a:solidFill>
                <a:latin typeface="Tahoma"/>
                <a:cs typeface="Tahoma"/>
              </a:rPr>
              <a:t>Efímero: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arranca</a:t>
            </a:r>
            <a:r>
              <a:rPr sz="1150" spc="-7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con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el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45" dirty="0">
                <a:solidFill>
                  <a:srgbClr val="2B404F"/>
                </a:solidFill>
                <a:latin typeface="Tahoma"/>
                <a:cs typeface="Tahoma"/>
              </a:rPr>
              <a:t>Job,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B404F"/>
                </a:solidFill>
                <a:latin typeface="Tahoma"/>
                <a:cs typeface="Tahoma"/>
              </a:rPr>
              <a:t>termina</a:t>
            </a:r>
            <a:r>
              <a:rPr sz="11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al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finalizarlo</a:t>
            </a:r>
            <a:endParaRPr sz="1150">
              <a:latin typeface="Tahoma"/>
              <a:cs typeface="Tahoma"/>
            </a:endParaRPr>
          </a:p>
          <a:p>
            <a:pPr marL="186055" indent="-17335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186055" algn="l"/>
              </a:tabLst>
            </a:pP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Configuración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aislada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por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ejecución</a:t>
            </a:r>
            <a:endParaRPr sz="1150">
              <a:latin typeface="Tahoma"/>
              <a:cs typeface="Tahoma"/>
            </a:endParaRPr>
          </a:p>
          <a:p>
            <a:pPr marL="186055" indent="-17335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186055" algn="l"/>
              </a:tabLst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Costo</a:t>
            </a:r>
            <a:r>
              <a:rPr sz="1150" spc="-8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optimizado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—</a:t>
            </a:r>
            <a:r>
              <a:rPr sz="11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solo</a:t>
            </a:r>
            <a:r>
              <a:rPr sz="115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factura</a:t>
            </a:r>
            <a:endParaRPr sz="1150">
              <a:latin typeface="Tahoma"/>
              <a:cs typeface="Tahoma"/>
            </a:endParaRPr>
          </a:p>
          <a:p>
            <a:pPr marL="184785">
              <a:lnSpc>
                <a:spcPct val="100000"/>
              </a:lnSpc>
              <a:spcBef>
                <a:spcPts val="490"/>
              </a:spcBef>
            </a:pP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tiempo</a:t>
            </a:r>
            <a:r>
              <a:rPr sz="115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activo</a:t>
            </a:r>
            <a:endParaRPr sz="1150">
              <a:latin typeface="Tahoma"/>
              <a:cs typeface="Tahoma"/>
            </a:endParaRPr>
          </a:p>
          <a:p>
            <a:pPr marL="184785" marR="748030" indent="-172720">
              <a:lnSpc>
                <a:spcPct val="135700"/>
              </a:lnSpc>
              <a:spcBef>
                <a:spcPts val="509"/>
              </a:spcBef>
              <a:buFont typeface="Arial MT"/>
              <a:buChar char="•"/>
              <a:tabLst>
                <a:tab pos="184785" algn="l"/>
              </a:tabLst>
            </a:pPr>
            <a:r>
              <a:rPr sz="1150" b="1" dirty="0">
                <a:solidFill>
                  <a:srgbClr val="2B404F"/>
                </a:solidFill>
                <a:latin typeface="Trebuchet MS"/>
                <a:cs typeface="Trebuchet MS"/>
              </a:rPr>
              <a:t>Uso</a:t>
            </a:r>
            <a:r>
              <a:rPr sz="1150" b="1" spc="-135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b="1" spc="-50" dirty="0">
                <a:solidFill>
                  <a:srgbClr val="2B404F"/>
                </a:solidFill>
                <a:latin typeface="Trebuchet MS"/>
                <a:cs typeface="Trebuchet MS"/>
              </a:rPr>
              <a:t>correcto:</a:t>
            </a:r>
            <a:r>
              <a:rPr sz="1150" b="1" spc="-110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pipelines</a:t>
            </a:r>
            <a:r>
              <a:rPr sz="1150" spc="-1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de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producción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4750" y="2171699"/>
            <a:ext cx="3305175" cy="2466975"/>
          </a:xfrm>
          <a:custGeom>
            <a:avLst/>
            <a:gdLst/>
            <a:ahLst/>
            <a:cxnLst/>
            <a:rect l="l" t="t" r="r" b="b"/>
            <a:pathLst>
              <a:path w="3305175" h="2466975">
                <a:moveTo>
                  <a:pt x="3305175" y="16256"/>
                </a:moveTo>
                <a:lnTo>
                  <a:pt x="3288919" y="0"/>
                </a:lnTo>
                <a:lnTo>
                  <a:pt x="16256" y="0"/>
                </a:lnTo>
                <a:lnTo>
                  <a:pt x="0" y="16256"/>
                </a:lnTo>
                <a:lnTo>
                  <a:pt x="0" y="2450719"/>
                </a:lnTo>
                <a:lnTo>
                  <a:pt x="13843" y="2466467"/>
                </a:lnTo>
                <a:lnTo>
                  <a:pt x="16256" y="2466975"/>
                </a:lnTo>
                <a:lnTo>
                  <a:pt x="3288919" y="2466975"/>
                </a:lnTo>
                <a:lnTo>
                  <a:pt x="3291332" y="2466467"/>
                </a:lnTo>
                <a:lnTo>
                  <a:pt x="3305175" y="2450719"/>
                </a:lnTo>
                <a:lnTo>
                  <a:pt x="3305175" y="16256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57845" y="2285492"/>
            <a:ext cx="15627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dirty="0">
                <a:solidFill>
                  <a:srgbClr val="114E71"/>
                </a:solidFill>
                <a:latin typeface="Trebuchet MS"/>
                <a:cs typeface="Trebuchet MS"/>
              </a:rPr>
              <a:t>Serverless</a:t>
            </a:r>
            <a:r>
              <a:rPr sz="1450" b="1" spc="-114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114E71"/>
                </a:solidFill>
                <a:latin typeface="Trebuchet MS"/>
                <a:cs typeface="Trebuchet MS"/>
              </a:rPr>
              <a:t>Cluster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7114" y="2554020"/>
            <a:ext cx="2646680" cy="162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35560" indent="-172720">
              <a:lnSpc>
                <a:spcPct val="1357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</a:tabLst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Sin</a:t>
            </a:r>
            <a:r>
              <a:rPr sz="11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gestión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VMs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ni</a:t>
            </a:r>
            <a:r>
              <a:rPr sz="115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configuración</a:t>
            </a:r>
            <a:r>
              <a:rPr sz="115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B404F"/>
                </a:solidFill>
                <a:latin typeface="Tahoma"/>
                <a:cs typeface="Tahoma"/>
              </a:rPr>
              <a:t>de red</a:t>
            </a:r>
            <a:endParaRPr sz="1150">
              <a:latin typeface="Tahoma"/>
              <a:cs typeface="Tahoma"/>
            </a:endParaRPr>
          </a:p>
          <a:p>
            <a:pPr marL="184785" marR="5080" indent="-172720">
              <a:lnSpc>
                <a:spcPts val="2340"/>
              </a:lnSpc>
              <a:spcBef>
                <a:spcPts val="120"/>
              </a:spcBef>
              <a:buFont typeface="Arial MT"/>
              <a:buChar char="•"/>
              <a:tabLst>
                <a:tab pos="184785" algn="l"/>
              </a:tabLst>
            </a:pP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Arranque</a:t>
            </a:r>
            <a:r>
              <a:rPr sz="1150" spc="-7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casi</a:t>
            </a:r>
            <a:r>
              <a:rPr sz="1150" spc="-4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instantáneo</a:t>
            </a:r>
            <a:r>
              <a:rPr sz="1150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Facturación por</a:t>
            </a:r>
            <a:r>
              <a:rPr sz="115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segundo</a:t>
            </a:r>
            <a:r>
              <a:rPr sz="115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de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uso</a:t>
            </a:r>
            <a:r>
              <a:rPr sz="115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B404F"/>
                </a:solidFill>
                <a:latin typeface="Tahoma"/>
                <a:cs typeface="Tahoma"/>
              </a:rPr>
              <a:t>real</a:t>
            </a:r>
            <a:endParaRPr sz="1150">
              <a:latin typeface="Tahoma"/>
              <a:cs typeface="Tahoma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86055" algn="l"/>
              </a:tabLst>
            </a:pPr>
            <a:r>
              <a:rPr sz="1150" b="1" dirty="0">
                <a:solidFill>
                  <a:srgbClr val="2B404F"/>
                </a:solidFill>
                <a:latin typeface="Trebuchet MS"/>
                <a:cs typeface="Trebuchet MS"/>
              </a:rPr>
              <a:t>Uso</a:t>
            </a:r>
            <a:r>
              <a:rPr sz="1150" b="1" spc="-65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2B404F"/>
                </a:solidFill>
                <a:latin typeface="Trebuchet MS"/>
                <a:cs typeface="Trebuchet MS"/>
              </a:rPr>
              <a:t>correcto:</a:t>
            </a:r>
            <a:r>
              <a:rPr sz="1150" b="1" spc="-60" dirty="0">
                <a:solidFill>
                  <a:srgbClr val="2B404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SQL</a:t>
            </a:r>
            <a:r>
              <a:rPr sz="1150" spc="-6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Analytics</a:t>
            </a:r>
            <a:r>
              <a:rPr sz="1150" spc="-5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50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endParaRPr sz="1150">
              <a:latin typeface="Tahoma"/>
              <a:cs typeface="Tahoma"/>
            </a:endParaRPr>
          </a:p>
          <a:p>
            <a:pPr marL="184785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2B404F"/>
                </a:solidFill>
                <a:latin typeface="Tahoma"/>
                <a:cs typeface="Tahoma"/>
              </a:rPr>
              <a:t>notebooks</a:t>
            </a:r>
            <a:r>
              <a:rPr sz="115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B404F"/>
                </a:solidFill>
                <a:latin typeface="Tahoma"/>
                <a:cs typeface="Tahoma"/>
              </a:rPr>
              <a:t>livianos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0075" y="4800600"/>
            <a:ext cx="10229850" cy="885825"/>
            <a:chOff x="600075" y="4800600"/>
            <a:chExt cx="10229850" cy="885825"/>
          </a:xfrm>
        </p:grpSpPr>
        <p:sp>
          <p:nvSpPr>
            <p:cNvPr id="13" name="object 13"/>
            <p:cNvSpPr/>
            <p:nvPr/>
          </p:nvSpPr>
          <p:spPr>
            <a:xfrm>
              <a:off x="600075" y="4800600"/>
              <a:ext cx="10229850" cy="885825"/>
            </a:xfrm>
            <a:custGeom>
              <a:avLst/>
              <a:gdLst/>
              <a:ahLst/>
              <a:cxnLst/>
              <a:rect l="l" t="t" r="r" b="b"/>
              <a:pathLst>
                <a:path w="10229850" h="885825">
                  <a:moveTo>
                    <a:pt x="10213594" y="0"/>
                  </a:moveTo>
                  <a:lnTo>
                    <a:pt x="16268" y="0"/>
                  </a:lnTo>
                  <a:lnTo>
                    <a:pt x="0" y="16256"/>
                  </a:lnTo>
                  <a:lnTo>
                    <a:pt x="0" y="869556"/>
                  </a:lnTo>
                  <a:lnTo>
                    <a:pt x="13868" y="885342"/>
                  </a:lnTo>
                  <a:lnTo>
                    <a:pt x="16268" y="885825"/>
                  </a:lnTo>
                  <a:lnTo>
                    <a:pt x="10213594" y="885825"/>
                  </a:lnTo>
                  <a:lnTo>
                    <a:pt x="10216007" y="885342"/>
                  </a:lnTo>
                  <a:lnTo>
                    <a:pt x="10229850" y="869556"/>
                  </a:lnTo>
                  <a:lnTo>
                    <a:pt x="10229850" y="16256"/>
                  </a:lnTo>
                  <a:lnTo>
                    <a:pt x="10213594" y="0"/>
                  </a:lnTo>
                  <a:close/>
                </a:path>
              </a:pathLst>
            </a:custGeom>
            <a:solidFill>
              <a:srgbClr val="C7DD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605" y="5028996"/>
              <a:ext cx="131267" cy="1312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74521" y="4900345"/>
            <a:ext cx="9229725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100"/>
              </a:spcBef>
            </a:pPr>
            <a:r>
              <a:rPr sz="1150" b="1" spc="-60" dirty="0">
                <a:latin typeface="Trebuchet MS"/>
                <a:cs typeface="Trebuchet MS"/>
              </a:rPr>
              <a:t>Advertencia</a:t>
            </a:r>
            <a:r>
              <a:rPr sz="1150" b="1" spc="-120" dirty="0">
                <a:latin typeface="Trebuchet MS"/>
                <a:cs typeface="Trebuchet MS"/>
              </a:rPr>
              <a:t> </a:t>
            </a:r>
            <a:r>
              <a:rPr sz="1150" b="1" spc="-60" dirty="0">
                <a:latin typeface="Trebuchet MS"/>
                <a:cs typeface="Trebuchet MS"/>
              </a:rPr>
              <a:t>para</a:t>
            </a:r>
            <a:r>
              <a:rPr sz="1150" b="1" spc="-165" dirty="0">
                <a:latin typeface="Trebuchet MS"/>
                <a:cs typeface="Trebuchet MS"/>
              </a:rPr>
              <a:t> </a:t>
            </a:r>
            <a:r>
              <a:rPr sz="1150" b="1" spc="-40" dirty="0">
                <a:latin typeface="Trebuchet MS"/>
                <a:cs typeface="Trebuchet MS"/>
              </a:rPr>
              <a:t>el</a:t>
            </a:r>
            <a:r>
              <a:rPr sz="1150" b="1" spc="-175" dirty="0">
                <a:latin typeface="Trebuchet MS"/>
                <a:cs typeface="Trebuchet MS"/>
              </a:rPr>
              <a:t> </a:t>
            </a:r>
            <a:r>
              <a:rPr sz="1150" b="1" spc="-50" dirty="0">
                <a:latin typeface="Trebuchet MS"/>
                <a:cs typeface="Trebuchet MS"/>
              </a:rPr>
              <a:t>examen:</a:t>
            </a:r>
            <a:r>
              <a:rPr sz="1150" spc="-50" dirty="0">
                <a:latin typeface="Tahoma"/>
                <a:cs typeface="Tahoma"/>
              </a:rPr>
              <a:t>Usar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un</a:t>
            </a:r>
            <a:r>
              <a:rPr sz="1150" spc="-7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All-Purpose</a:t>
            </a:r>
            <a:r>
              <a:rPr sz="1150" spc="-10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Cluster</a:t>
            </a:r>
            <a:r>
              <a:rPr sz="1150" spc="-75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en</a:t>
            </a:r>
            <a:r>
              <a:rPr sz="1150" spc="-7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pipelines</a:t>
            </a:r>
            <a:r>
              <a:rPr sz="1150" spc="-8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de</a:t>
            </a:r>
            <a:r>
              <a:rPr sz="1150" spc="-6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producción</a:t>
            </a:r>
            <a:r>
              <a:rPr sz="1150" spc="-6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es</a:t>
            </a:r>
            <a:r>
              <a:rPr sz="1150" spc="-80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un</a:t>
            </a:r>
            <a:r>
              <a:rPr sz="1150" spc="-75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antipatrón.</a:t>
            </a:r>
            <a:r>
              <a:rPr sz="1150" spc="-3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La</a:t>
            </a:r>
            <a:r>
              <a:rPr sz="1150" spc="-7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respuesta</a:t>
            </a:r>
            <a:r>
              <a:rPr sz="1150" spc="-9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correcta</a:t>
            </a:r>
            <a:r>
              <a:rPr sz="1150" spc="-6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siempre</a:t>
            </a:r>
            <a:r>
              <a:rPr sz="1150" spc="-9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es</a:t>
            </a:r>
            <a:r>
              <a:rPr sz="1150" spc="-80" dirty="0">
                <a:latin typeface="Tahoma"/>
                <a:cs typeface="Tahoma"/>
              </a:rPr>
              <a:t> </a:t>
            </a:r>
            <a:r>
              <a:rPr sz="1150" spc="-35" dirty="0">
                <a:latin typeface="Tahoma"/>
                <a:cs typeface="Tahoma"/>
              </a:rPr>
              <a:t>Job</a:t>
            </a:r>
            <a:r>
              <a:rPr sz="1150" spc="-60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Cluster para</a:t>
            </a:r>
            <a:r>
              <a:rPr sz="1150" spc="-95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automatización.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Workspace</a:t>
            </a:r>
            <a:r>
              <a:rPr spc="-155" dirty="0"/>
              <a:t> </a:t>
            </a:r>
            <a:r>
              <a:rPr spc="-170" dirty="0"/>
              <a:t>y</a:t>
            </a:r>
            <a:r>
              <a:rPr spc="-160" dirty="0"/>
              <a:t> </a:t>
            </a:r>
            <a:r>
              <a:rPr spc="75" dirty="0"/>
              <a:t>Organización</a:t>
            </a:r>
            <a:r>
              <a:rPr spc="-190" dirty="0"/>
              <a:t> </a:t>
            </a:r>
            <a:r>
              <a:rPr spc="50" dirty="0"/>
              <a:t>de</a:t>
            </a:r>
            <a:r>
              <a:rPr spc="-155" dirty="0"/>
              <a:t> </a:t>
            </a:r>
            <a:r>
              <a:rPr spc="75" dirty="0"/>
              <a:t>Artefactos</a:t>
            </a:r>
          </a:p>
          <a:p>
            <a:pPr marL="12700" marR="5080">
              <a:lnSpc>
                <a:spcPct val="136500"/>
              </a:lnSpc>
              <a:spcBef>
                <a:spcPts val="555"/>
              </a:spcBef>
            </a:pPr>
            <a:r>
              <a:rPr sz="1150" dirty="0">
                <a:solidFill>
                  <a:srgbClr val="2A404F"/>
                </a:solidFill>
              </a:rPr>
              <a:t>El</a:t>
            </a:r>
            <a:r>
              <a:rPr sz="1150" spc="-11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Workspace</a:t>
            </a:r>
            <a:r>
              <a:rPr sz="1150" spc="-85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de</a:t>
            </a:r>
            <a:r>
              <a:rPr sz="1150" spc="-12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Databricks</a:t>
            </a:r>
            <a:r>
              <a:rPr sz="1150" spc="-80" dirty="0">
                <a:solidFill>
                  <a:srgbClr val="2A404F"/>
                </a:solidFill>
              </a:rPr>
              <a:t> </a:t>
            </a:r>
            <a:r>
              <a:rPr sz="1150" spc="-30" dirty="0">
                <a:solidFill>
                  <a:srgbClr val="2A404F"/>
                </a:solidFill>
              </a:rPr>
              <a:t>organiza</a:t>
            </a:r>
            <a:r>
              <a:rPr sz="1150" spc="-95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todos</a:t>
            </a:r>
            <a:r>
              <a:rPr sz="1150" spc="-8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los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artefactos</a:t>
            </a:r>
            <a:r>
              <a:rPr sz="1150" spc="-8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del</a:t>
            </a:r>
            <a:r>
              <a:rPr sz="1150" spc="-12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equipo.</a:t>
            </a:r>
            <a:r>
              <a:rPr sz="1150" spc="-114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La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estructura</a:t>
            </a:r>
            <a:r>
              <a:rPr sz="1150" spc="-11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de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carpetas</a:t>
            </a:r>
            <a:r>
              <a:rPr sz="1150" spc="-95" dirty="0">
                <a:solidFill>
                  <a:srgbClr val="2A404F"/>
                </a:solidFill>
              </a:rPr>
              <a:t> </a:t>
            </a:r>
            <a:r>
              <a:rPr sz="1150" spc="-65" dirty="0">
                <a:solidFill>
                  <a:srgbClr val="2A404F"/>
                </a:solidFill>
              </a:rPr>
              <a:t>y</a:t>
            </a:r>
            <a:r>
              <a:rPr sz="1150" spc="-11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la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elección</a:t>
            </a:r>
            <a:r>
              <a:rPr sz="1150" spc="-120" dirty="0">
                <a:solidFill>
                  <a:srgbClr val="2A404F"/>
                </a:solidFill>
              </a:rPr>
              <a:t> </a:t>
            </a:r>
            <a:r>
              <a:rPr sz="1150" spc="-25" dirty="0">
                <a:solidFill>
                  <a:srgbClr val="2A404F"/>
                </a:solidFill>
              </a:rPr>
              <a:t>entre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Workspace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spc="-30" dirty="0">
                <a:solidFill>
                  <a:srgbClr val="2A404F"/>
                </a:solidFill>
              </a:rPr>
              <a:t>nativo</a:t>
            </a:r>
            <a:r>
              <a:rPr sz="1150" spc="-80" dirty="0">
                <a:solidFill>
                  <a:srgbClr val="2A404F"/>
                </a:solidFill>
              </a:rPr>
              <a:t> </a:t>
            </a:r>
            <a:r>
              <a:rPr sz="1150" spc="-65" dirty="0">
                <a:solidFill>
                  <a:srgbClr val="2A404F"/>
                </a:solidFill>
              </a:rPr>
              <a:t>y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Repos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tiene </a:t>
            </a:r>
            <a:r>
              <a:rPr sz="1150" dirty="0">
                <a:solidFill>
                  <a:srgbClr val="2A404F"/>
                </a:solidFill>
              </a:rPr>
              <a:t>implicaciones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directas</a:t>
            </a:r>
            <a:r>
              <a:rPr sz="1150" spc="-9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en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la</a:t>
            </a:r>
            <a:r>
              <a:rPr sz="1150" spc="-105" dirty="0">
                <a:solidFill>
                  <a:srgbClr val="2A404F"/>
                </a:solidFill>
              </a:rPr>
              <a:t> </a:t>
            </a:r>
            <a:r>
              <a:rPr sz="1150" spc="-30" dirty="0">
                <a:solidFill>
                  <a:srgbClr val="2A404F"/>
                </a:solidFill>
              </a:rPr>
              <a:t>gobernanza</a:t>
            </a:r>
            <a:r>
              <a:rPr sz="1150" spc="-95" dirty="0">
                <a:solidFill>
                  <a:srgbClr val="2A404F"/>
                </a:solidFill>
              </a:rPr>
              <a:t> </a:t>
            </a:r>
            <a:r>
              <a:rPr sz="1150" spc="-65" dirty="0">
                <a:solidFill>
                  <a:srgbClr val="2A404F"/>
                </a:solidFill>
              </a:rPr>
              <a:t>y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el</a:t>
            </a:r>
            <a:r>
              <a:rPr sz="1150" spc="-114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control</a:t>
            </a:r>
            <a:r>
              <a:rPr sz="1150" spc="-80" dirty="0">
                <a:solidFill>
                  <a:srgbClr val="2A404F"/>
                </a:solidFill>
              </a:rPr>
              <a:t> </a:t>
            </a:r>
            <a:r>
              <a:rPr sz="1150" dirty="0">
                <a:solidFill>
                  <a:srgbClr val="2A404F"/>
                </a:solidFill>
              </a:rPr>
              <a:t>de</a:t>
            </a:r>
            <a:r>
              <a:rPr sz="1150" spc="-100" dirty="0">
                <a:solidFill>
                  <a:srgbClr val="2A404F"/>
                </a:solidFill>
              </a:rPr>
              <a:t> </a:t>
            </a:r>
            <a:r>
              <a:rPr sz="1150" spc="-10" dirty="0">
                <a:solidFill>
                  <a:srgbClr val="2A404F"/>
                </a:solidFill>
              </a:rPr>
              <a:t>versiones.</a:t>
            </a:r>
            <a:endParaRPr sz="1150"/>
          </a:p>
        </p:txBody>
      </p:sp>
      <p:sp>
        <p:nvSpPr>
          <p:cNvPr id="11" name="object 11"/>
          <p:cNvSpPr txBox="1"/>
          <p:nvPr/>
        </p:nvSpPr>
        <p:spPr>
          <a:xfrm>
            <a:off x="6526148" y="1978279"/>
            <a:ext cx="3707129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45" dirty="0">
                <a:solidFill>
                  <a:srgbClr val="124E73"/>
                </a:solidFill>
                <a:latin typeface="Trebuchet MS"/>
                <a:cs typeface="Trebuchet MS"/>
              </a:rPr>
              <a:t>Workspace</a:t>
            </a:r>
            <a:r>
              <a:rPr sz="1450" b="1" spc="-229" dirty="0">
                <a:solidFill>
                  <a:srgbClr val="124E73"/>
                </a:solidFill>
                <a:latin typeface="Trebuchet MS"/>
                <a:cs typeface="Trebuchet MS"/>
              </a:rPr>
              <a:t> </a:t>
            </a:r>
            <a:r>
              <a:rPr sz="1450" b="1" spc="70" dirty="0">
                <a:solidFill>
                  <a:srgbClr val="124E73"/>
                </a:solidFill>
                <a:latin typeface="Trebuchet MS"/>
                <a:cs typeface="Trebuchet MS"/>
              </a:rPr>
              <a:t>vsRepos</a:t>
            </a:r>
            <a:r>
              <a:rPr sz="1450" b="1" spc="-225" dirty="0">
                <a:solidFill>
                  <a:srgbClr val="124E73"/>
                </a:solidFill>
                <a:latin typeface="Trebuchet MS"/>
                <a:cs typeface="Trebuchet MS"/>
              </a:rPr>
              <a:t> </a:t>
            </a:r>
            <a:r>
              <a:rPr sz="1450" b="1" spc="270" dirty="0">
                <a:solidFill>
                  <a:srgbClr val="124E73"/>
                </a:solidFill>
                <a:latin typeface="Trebuchet MS"/>
                <a:cs typeface="Trebuchet MS"/>
              </a:rPr>
              <a:t>—</a:t>
            </a:r>
            <a:r>
              <a:rPr sz="1450" b="1" spc="55" dirty="0">
                <a:solidFill>
                  <a:srgbClr val="124E73"/>
                </a:solidFill>
                <a:latin typeface="Trebuchet MS"/>
                <a:cs typeface="Trebuchet MS"/>
              </a:rPr>
              <a:t>Comparación</a:t>
            </a:r>
            <a:r>
              <a:rPr sz="1450" b="1" spc="-235" dirty="0">
                <a:solidFill>
                  <a:srgbClr val="124E73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124E73"/>
                </a:solidFill>
                <a:latin typeface="Trebuchet MS"/>
                <a:cs typeface="Trebuchet MS"/>
              </a:rPr>
              <a:t>Clave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7375" y="2107945"/>
            <a:ext cx="5143500" cy="3232785"/>
            <a:chOff x="587375" y="2107945"/>
            <a:chExt cx="5143500" cy="3232785"/>
          </a:xfrm>
        </p:grpSpPr>
        <p:sp>
          <p:nvSpPr>
            <p:cNvPr id="4" name="object 4"/>
            <p:cNvSpPr/>
            <p:nvPr/>
          </p:nvSpPr>
          <p:spPr>
            <a:xfrm>
              <a:off x="587375" y="2107945"/>
              <a:ext cx="5143500" cy="3232785"/>
            </a:xfrm>
            <a:custGeom>
              <a:avLst/>
              <a:gdLst/>
              <a:ahLst/>
              <a:cxnLst/>
              <a:rect l="l" t="t" r="r" b="b"/>
              <a:pathLst>
                <a:path w="5143500" h="3232785">
                  <a:moveTo>
                    <a:pt x="5127244" y="0"/>
                  </a:moveTo>
                  <a:lnTo>
                    <a:pt x="16268" y="0"/>
                  </a:lnTo>
                  <a:lnTo>
                    <a:pt x="0" y="14477"/>
                  </a:lnTo>
                  <a:lnTo>
                    <a:pt x="0" y="3218053"/>
                  </a:lnTo>
                  <a:lnTo>
                    <a:pt x="13868" y="3232022"/>
                  </a:lnTo>
                  <a:lnTo>
                    <a:pt x="16268" y="3232404"/>
                  </a:lnTo>
                  <a:lnTo>
                    <a:pt x="5127244" y="3232404"/>
                  </a:lnTo>
                  <a:lnTo>
                    <a:pt x="5129657" y="3232022"/>
                  </a:lnTo>
                  <a:lnTo>
                    <a:pt x="5143500" y="3218053"/>
                  </a:lnTo>
                  <a:lnTo>
                    <a:pt x="5143500" y="14477"/>
                  </a:lnTo>
                  <a:lnTo>
                    <a:pt x="5127244" y="0"/>
                  </a:lnTo>
                  <a:close/>
                </a:path>
              </a:pathLst>
            </a:custGeom>
            <a:solidFill>
              <a:srgbClr val="315E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260" y="2835274"/>
              <a:ext cx="1788160" cy="770255"/>
            </a:xfrm>
            <a:custGeom>
              <a:avLst/>
              <a:gdLst/>
              <a:ahLst/>
              <a:cxnLst/>
              <a:rect l="l" t="t" r="r" b="b"/>
              <a:pathLst>
                <a:path w="1788160" h="770254">
                  <a:moveTo>
                    <a:pt x="501396" y="591312"/>
                  </a:moveTo>
                  <a:lnTo>
                    <a:pt x="0" y="591312"/>
                  </a:lnTo>
                  <a:lnTo>
                    <a:pt x="0" y="769632"/>
                  </a:lnTo>
                  <a:lnTo>
                    <a:pt x="501396" y="769632"/>
                  </a:lnTo>
                  <a:lnTo>
                    <a:pt x="501396" y="591312"/>
                  </a:lnTo>
                  <a:close/>
                </a:path>
                <a:path w="1788160" h="770254">
                  <a:moveTo>
                    <a:pt x="519734" y="591312"/>
                  </a:moveTo>
                  <a:lnTo>
                    <a:pt x="501446" y="591312"/>
                  </a:lnTo>
                  <a:lnTo>
                    <a:pt x="501446" y="769632"/>
                  </a:lnTo>
                  <a:lnTo>
                    <a:pt x="519734" y="769632"/>
                  </a:lnTo>
                  <a:lnTo>
                    <a:pt x="519734" y="591312"/>
                  </a:lnTo>
                  <a:close/>
                </a:path>
                <a:path w="1788160" h="770254">
                  <a:moveTo>
                    <a:pt x="818388" y="289560"/>
                  </a:moveTo>
                  <a:lnTo>
                    <a:pt x="0" y="289560"/>
                  </a:lnTo>
                  <a:lnTo>
                    <a:pt x="0" y="467868"/>
                  </a:lnTo>
                  <a:lnTo>
                    <a:pt x="818388" y="467868"/>
                  </a:lnTo>
                  <a:lnTo>
                    <a:pt x="818388" y="289560"/>
                  </a:lnTo>
                  <a:close/>
                </a:path>
                <a:path w="1788160" h="770254">
                  <a:moveTo>
                    <a:pt x="848918" y="289560"/>
                  </a:moveTo>
                  <a:lnTo>
                    <a:pt x="818438" y="289560"/>
                  </a:lnTo>
                  <a:lnTo>
                    <a:pt x="818438" y="467868"/>
                  </a:lnTo>
                  <a:lnTo>
                    <a:pt x="848918" y="467868"/>
                  </a:lnTo>
                  <a:lnTo>
                    <a:pt x="848918" y="289560"/>
                  </a:lnTo>
                  <a:close/>
                </a:path>
                <a:path w="1788160" h="770254">
                  <a:moveTo>
                    <a:pt x="1761744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1761744" y="178308"/>
                  </a:lnTo>
                  <a:lnTo>
                    <a:pt x="1761744" y="0"/>
                  </a:lnTo>
                  <a:close/>
                </a:path>
                <a:path w="1788160" h="770254">
                  <a:moveTo>
                    <a:pt x="1787702" y="0"/>
                  </a:moveTo>
                  <a:lnTo>
                    <a:pt x="1761794" y="0"/>
                  </a:lnTo>
                  <a:lnTo>
                    <a:pt x="1761794" y="178308"/>
                  </a:lnTo>
                  <a:lnTo>
                    <a:pt x="1787702" y="178308"/>
                  </a:lnTo>
                  <a:lnTo>
                    <a:pt x="1787702" y="0"/>
                  </a:lnTo>
                  <a:close/>
                </a:path>
              </a:pathLst>
            </a:custGeom>
            <a:solidFill>
              <a:srgbClr val="2B4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4105" y="2387345"/>
            <a:ext cx="3594735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30" dirty="0">
                <a:solidFill>
                  <a:srgbClr val="FFFFFF"/>
                </a:solidFill>
                <a:latin typeface="Trebuchet MS"/>
                <a:cs typeface="Trebuchet MS"/>
              </a:rPr>
              <a:t>Estructura</a:t>
            </a:r>
            <a:r>
              <a:rPr sz="145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145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Trebuchet MS"/>
                <a:cs typeface="Trebuchet MS"/>
              </a:rPr>
              <a:t>Workspace</a:t>
            </a:r>
            <a:endParaRPr sz="1450">
              <a:latin typeface="Trebuchet MS"/>
              <a:cs typeface="Trebuchet MS"/>
            </a:endParaRPr>
          </a:p>
          <a:p>
            <a:pPr marL="424815" indent="-173355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424815" algn="l"/>
              </a:tabLst>
            </a:pPr>
            <a:r>
              <a:rPr sz="1150" spc="50" dirty="0">
                <a:solidFill>
                  <a:srgbClr val="FFFFFF"/>
                </a:solidFill>
                <a:latin typeface="Tahoma"/>
                <a:cs typeface="Tahoma"/>
              </a:rPr>
              <a:t>/Users/nombre@dominio</a:t>
            </a:r>
            <a:r>
              <a:rPr sz="11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90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carpeta</a:t>
            </a:r>
            <a:r>
              <a:rPr sz="115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personal</a:t>
            </a:r>
            <a:endParaRPr sz="1150">
              <a:latin typeface="Tahoma"/>
              <a:cs typeface="Tahoma"/>
            </a:endParaRPr>
          </a:p>
          <a:p>
            <a:pPr marL="424815" indent="-17335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24815" algn="l"/>
              </a:tabLst>
            </a:pP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/Workspace/</a:t>
            </a:r>
            <a:r>
              <a:rPr sz="115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1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carpetas</a:t>
            </a:r>
            <a:r>
              <a:rPr sz="115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FFFFFF"/>
                </a:solidFill>
                <a:latin typeface="Tahoma"/>
                <a:cs typeface="Tahoma"/>
              </a:rPr>
              <a:t>compartidas</a:t>
            </a:r>
            <a:r>
              <a:rPr sz="115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15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FFFFFF"/>
                </a:solidFill>
                <a:latin typeface="Tahoma"/>
                <a:cs typeface="Tahoma"/>
              </a:rPr>
              <a:t>equipo</a:t>
            </a:r>
            <a:endParaRPr sz="1150">
              <a:latin typeface="Tahoma"/>
              <a:cs typeface="Tahoma"/>
            </a:endParaRPr>
          </a:p>
          <a:p>
            <a:pPr marL="424815" indent="-17335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24815" algn="l"/>
              </a:tabLst>
            </a:pP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/Repos/</a:t>
            </a:r>
            <a:r>
              <a:rPr sz="115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150" spc="45" dirty="0">
                <a:solidFill>
                  <a:srgbClr val="FFFFFF"/>
                </a:solidFill>
                <a:latin typeface="Tahoma"/>
                <a:cs typeface="Tahoma"/>
              </a:rPr>
              <a:t>repositorios</a:t>
            </a:r>
            <a:r>
              <a:rPr sz="11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90" dirty="0">
                <a:solidFill>
                  <a:srgbClr val="FFFFFF"/>
                </a:solidFill>
                <a:latin typeface="Tahoma"/>
                <a:cs typeface="Tahoma"/>
              </a:rPr>
              <a:t>Cit</a:t>
            </a:r>
            <a:r>
              <a:rPr sz="115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sincronizados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105" y="4112171"/>
            <a:ext cx="1201420" cy="52070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sz="115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FFFFFF"/>
                </a:solidFill>
                <a:latin typeface="Tahoma"/>
                <a:cs typeface="Tahoma"/>
              </a:rPr>
              <a:t>notebooks</a:t>
            </a:r>
            <a:r>
              <a:rPr sz="11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versiones</a:t>
            </a:r>
            <a:r>
              <a:rPr sz="115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nativo.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7742" y="4205223"/>
            <a:ext cx="419100" cy="178435"/>
          </a:xfrm>
          <a:prstGeom prst="rect">
            <a:avLst/>
          </a:prstGeom>
          <a:solidFill>
            <a:srgbClr val="2B404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5"/>
              </a:lnSpc>
            </a:pP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/Users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48763" y="4205223"/>
            <a:ext cx="800100" cy="178435"/>
          </a:xfrm>
          <a:custGeom>
            <a:avLst/>
            <a:gdLst/>
            <a:ahLst/>
            <a:cxnLst/>
            <a:rect l="l" t="t" r="r" b="b"/>
            <a:pathLst>
              <a:path w="800100" h="178435">
                <a:moveTo>
                  <a:pt x="800100" y="0"/>
                </a:moveTo>
                <a:lnTo>
                  <a:pt x="768096" y="0"/>
                </a:lnTo>
                <a:lnTo>
                  <a:pt x="0" y="0"/>
                </a:lnTo>
                <a:lnTo>
                  <a:pt x="0" y="178308"/>
                </a:lnTo>
                <a:lnTo>
                  <a:pt x="768096" y="178308"/>
                </a:lnTo>
                <a:lnTo>
                  <a:pt x="800100" y="178308"/>
                </a:lnTo>
                <a:lnTo>
                  <a:pt x="800100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47925" y="4183837"/>
            <a:ext cx="22383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6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1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/Workspace</a:t>
            </a:r>
            <a:r>
              <a:rPr sz="11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sz="11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ahoma"/>
                <a:cs typeface="Tahoma"/>
              </a:rPr>
              <a:t>tienen</a:t>
            </a:r>
            <a:r>
              <a:rPr sz="115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1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endParaRPr sz="1150">
              <a:latin typeface="Tahoma"/>
              <a:cs typeface="Tahom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519545" y="2475738"/>
          <a:ext cx="4924425" cy="2856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59">
                <a:tc gridSpan="2"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15"/>
                        </a:spcBef>
                        <a:tabLst>
                          <a:tab pos="2618740" algn="l"/>
                        </a:tabLst>
                      </a:pPr>
                      <a:r>
                        <a:rPr sz="1200" b="1" spc="-10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NotebooksenWorkspace</a:t>
                      </a:r>
                      <a:r>
                        <a:rPr sz="1200" b="1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200" b="1" spc="-10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NotebooksenRepos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F1F1F1">
                        <a:alpha val="149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Sin</a:t>
                      </a:r>
                      <a:r>
                        <a:rPr sz="1200" spc="-12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historial</a:t>
                      </a:r>
                      <a:r>
                        <a:rPr sz="1200" spc="-7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de</a:t>
                      </a: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versiones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Versionados</a:t>
                      </a:r>
                      <a:r>
                        <a:rPr sz="1200" spc="-5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7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con</a:t>
                      </a:r>
                      <a:r>
                        <a:rPr sz="1200" spc="4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Git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00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6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Edición</a:t>
                      </a:r>
                      <a:r>
                        <a:rPr sz="1200" spc="-6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directa</a:t>
                      </a:r>
                      <a:r>
                        <a:rPr sz="1200" spc="-10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sin</a:t>
                      </a:r>
                      <a:r>
                        <a:rPr sz="1200" spc="-8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revisión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861060">
                        <a:lnSpc>
                          <a:spcPct val="136700"/>
                        </a:lnSpc>
                        <a:spcBef>
                          <a:spcPts val="120"/>
                        </a:spcBef>
                      </a:pPr>
                      <a:r>
                        <a:rPr sz="1200" spc="-2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Ramas,</a:t>
                      </a:r>
                      <a:r>
                        <a:rPr sz="1200" spc="-15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Pull</a:t>
                      </a:r>
                      <a:r>
                        <a:rPr sz="1200" spc="-12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Requests, </a:t>
                      </a:r>
                      <a:r>
                        <a:rPr sz="1200" spc="-2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revisión</a:t>
                      </a:r>
                      <a:r>
                        <a:rPr sz="1200" spc="-9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de</a:t>
                      </a:r>
                      <a:r>
                        <a:rPr sz="1200" spc="3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4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código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9525">
                      <a:solidFill>
                        <a:srgbClr val="FFFA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Sin</a:t>
                      </a:r>
                      <a:r>
                        <a:rPr sz="1200" spc="-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proceso</a:t>
                      </a:r>
                      <a:r>
                        <a:rPr sz="1200" spc="-6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CI/CD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9525">
                      <a:solidFill>
                        <a:srgbClr val="FFFAF5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845185">
                        <a:lnSpc>
                          <a:spcPct val="141000"/>
                        </a:lnSpc>
                        <a:spcBef>
                          <a:spcPts val="45"/>
                        </a:spcBef>
                      </a:pPr>
                      <a:r>
                        <a:rPr sz="1200" spc="-2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Integración</a:t>
                      </a:r>
                      <a:r>
                        <a:rPr sz="1200" spc="-9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7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con</a:t>
                      </a: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Azure </a:t>
                      </a:r>
                      <a:r>
                        <a:rPr sz="1200" spc="2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DevOps</a:t>
                      </a:r>
                      <a:r>
                        <a:rPr sz="1200" spc="-8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/GitHub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9525">
                      <a:solidFill>
                        <a:srgbClr val="FFFAF5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10">
                <a:tc gridSpan="2"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2618740" algn="l"/>
                        </a:tabLst>
                      </a:pPr>
                      <a:r>
                        <a:rPr sz="1200" spc="5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Aceptable</a:t>
                      </a:r>
                      <a:r>
                        <a:rPr sz="1200" spc="-18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6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solo</a:t>
                      </a:r>
                      <a:r>
                        <a:rPr sz="1200" spc="-15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en</a:t>
                      </a:r>
                      <a:r>
                        <a:rPr sz="120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200" b="1" spc="-35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Obligatorio</a:t>
                      </a:r>
                      <a:r>
                        <a:rPr sz="1200" b="1" spc="-145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2A404F"/>
                          </a:solidFill>
                          <a:latin typeface="Trebuchet MS"/>
                          <a:cs typeface="Trebuchet MS"/>
                        </a:rPr>
                        <a:t>enproducción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spc="-10" dirty="0">
                          <a:solidFill>
                            <a:srgbClr val="2A404F"/>
                          </a:solidFill>
                          <a:latin typeface="Tahoma"/>
                          <a:cs typeface="Tahoma"/>
                        </a:rPr>
                        <a:t>exploración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>
                        <a:alpha val="149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Databricks</a:t>
            </a:r>
            <a:r>
              <a:rPr spc="-90" dirty="0"/>
              <a:t> </a:t>
            </a:r>
            <a:r>
              <a:rPr spc="95" dirty="0"/>
              <a:t>Repos</a:t>
            </a:r>
            <a:r>
              <a:rPr spc="-120" dirty="0"/>
              <a:t> </a:t>
            </a:r>
            <a:r>
              <a:rPr dirty="0"/>
              <a:t>e</a:t>
            </a:r>
            <a:r>
              <a:rPr spc="-120" dirty="0"/>
              <a:t> </a:t>
            </a:r>
            <a:r>
              <a:rPr dirty="0"/>
              <a:t>Integración</a:t>
            </a:r>
            <a:r>
              <a:rPr spc="-120" dirty="0"/>
              <a:t> </a:t>
            </a:r>
            <a:r>
              <a:rPr spc="90" dirty="0"/>
              <a:t>Git</a:t>
            </a:r>
          </a:p>
          <a:p>
            <a:pPr marL="12700" marR="5080">
              <a:lnSpc>
                <a:spcPct val="136500"/>
              </a:lnSpc>
              <a:spcBef>
                <a:spcPts val="555"/>
              </a:spcBef>
            </a:pPr>
            <a:r>
              <a:rPr sz="1150" dirty="0">
                <a:solidFill>
                  <a:srgbClr val="2B404F"/>
                </a:solidFill>
              </a:rPr>
              <a:t>Databricks</a:t>
            </a:r>
            <a:r>
              <a:rPr sz="1150" spc="-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Repos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conecta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el</a:t>
            </a:r>
            <a:r>
              <a:rPr sz="1150" spc="-1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entorno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de desarrollo</a:t>
            </a:r>
            <a:r>
              <a:rPr sz="1150" spc="-5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directamente</a:t>
            </a:r>
            <a:r>
              <a:rPr sz="1150" spc="-7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con repositorios</a:t>
            </a:r>
            <a:r>
              <a:rPr sz="1150" spc="-4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Git</a:t>
            </a:r>
            <a:r>
              <a:rPr sz="1150" spc="-1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remotos.</a:t>
            </a:r>
            <a:r>
              <a:rPr sz="1150" spc="-4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Este</a:t>
            </a:r>
            <a:r>
              <a:rPr sz="1150" spc="-2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flujo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spc="-10" dirty="0">
                <a:solidFill>
                  <a:srgbClr val="2B404F"/>
                </a:solidFill>
              </a:rPr>
              <a:t>garantiza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trazabilidad,</a:t>
            </a:r>
            <a:r>
              <a:rPr sz="1150" spc="-1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revisión</a:t>
            </a:r>
            <a:r>
              <a:rPr sz="1150" spc="13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de</a:t>
            </a:r>
            <a:r>
              <a:rPr sz="1150" spc="-2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código</a:t>
            </a:r>
            <a:r>
              <a:rPr sz="1150" spc="-10" dirty="0">
                <a:solidFill>
                  <a:srgbClr val="2B404F"/>
                </a:solidFill>
              </a:rPr>
              <a:t> </a:t>
            </a:r>
            <a:r>
              <a:rPr sz="1150" spc="-50" dirty="0">
                <a:solidFill>
                  <a:srgbClr val="2B404F"/>
                </a:solidFill>
              </a:rPr>
              <a:t>y </a:t>
            </a:r>
            <a:r>
              <a:rPr sz="1150" dirty="0">
                <a:solidFill>
                  <a:srgbClr val="2B404F"/>
                </a:solidFill>
              </a:rPr>
              <a:t>despliegue</a:t>
            </a:r>
            <a:r>
              <a:rPr sz="1150" spc="-7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controlado</a:t>
            </a:r>
            <a:r>
              <a:rPr sz="1150" spc="-20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en</a:t>
            </a:r>
            <a:r>
              <a:rPr sz="1150" spc="-1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entornos</a:t>
            </a:r>
            <a:r>
              <a:rPr sz="1150" spc="-35" dirty="0">
                <a:solidFill>
                  <a:srgbClr val="2B404F"/>
                </a:solidFill>
              </a:rPr>
              <a:t> </a:t>
            </a:r>
            <a:r>
              <a:rPr sz="1150" dirty="0">
                <a:solidFill>
                  <a:srgbClr val="2B404F"/>
                </a:solidFill>
              </a:rPr>
              <a:t>de</a:t>
            </a:r>
            <a:r>
              <a:rPr sz="1150" spc="-25" dirty="0">
                <a:solidFill>
                  <a:srgbClr val="2B404F"/>
                </a:solidFill>
              </a:rPr>
              <a:t> </a:t>
            </a:r>
            <a:r>
              <a:rPr sz="1150" spc="-10" dirty="0">
                <a:solidFill>
                  <a:srgbClr val="2B404F"/>
                </a:solidFill>
              </a:rPr>
              <a:t>producción.</a:t>
            </a:r>
            <a:endParaRPr sz="1150" dirty="0"/>
          </a:p>
        </p:txBody>
      </p:sp>
      <p:sp>
        <p:nvSpPr>
          <p:cNvPr id="3" name="object 3"/>
          <p:cNvSpPr/>
          <p:nvPr/>
        </p:nvSpPr>
        <p:spPr>
          <a:xfrm>
            <a:off x="1274444" y="1878329"/>
            <a:ext cx="8880475" cy="3194050"/>
          </a:xfrm>
          <a:custGeom>
            <a:avLst/>
            <a:gdLst/>
            <a:ahLst/>
            <a:cxnLst/>
            <a:rect l="l" t="t" r="r" b="b"/>
            <a:pathLst>
              <a:path w="8880475" h="3194050">
                <a:moveTo>
                  <a:pt x="1651508" y="0"/>
                </a:moveTo>
                <a:lnTo>
                  <a:pt x="267970" y="0"/>
                </a:lnTo>
                <a:lnTo>
                  <a:pt x="223901" y="4445"/>
                </a:lnTo>
                <a:lnTo>
                  <a:pt x="183388" y="17145"/>
                </a:lnTo>
                <a:lnTo>
                  <a:pt x="147701" y="37084"/>
                </a:lnTo>
                <a:lnTo>
                  <a:pt x="117983" y="63246"/>
                </a:lnTo>
                <a:lnTo>
                  <a:pt x="95250" y="94615"/>
                </a:lnTo>
                <a:lnTo>
                  <a:pt x="80899" y="130175"/>
                </a:lnTo>
                <a:lnTo>
                  <a:pt x="75818" y="169037"/>
                </a:lnTo>
                <a:lnTo>
                  <a:pt x="75818" y="1528445"/>
                </a:lnTo>
                <a:lnTo>
                  <a:pt x="45720" y="1538478"/>
                </a:lnTo>
                <a:lnTo>
                  <a:pt x="21717" y="1556385"/>
                </a:lnTo>
                <a:lnTo>
                  <a:pt x="5842" y="1580515"/>
                </a:lnTo>
                <a:lnTo>
                  <a:pt x="0" y="1608963"/>
                </a:lnTo>
                <a:lnTo>
                  <a:pt x="7366" y="1640840"/>
                </a:lnTo>
                <a:lnTo>
                  <a:pt x="27305" y="1666875"/>
                </a:lnTo>
                <a:lnTo>
                  <a:pt x="56896" y="1684401"/>
                </a:lnTo>
                <a:lnTo>
                  <a:pt x="93218" y="1690878"/>
                </a:lnTo>
                <a:lnTo>
                  <a:pt x="129540" y="1684401"/>
                </a:lnTo>
                <a:lnTo>
                  <a:pt x="159131" y="1666875"/>
                </a:lnTo>
                <a:lnTo>
                  <a:pt x="179070" y="1640840"/>
                </a:lnTo>
                <a:lnTo>
                  <a:pt x="186436" y="1608963"/>
                </a:lnTo>
                <a:lnTo>
                  <a:pt x="180721" y="1580515"/>
                </a:lnTo>
                <a:lnTo>
                  <a:pt x="164719" y="1556385"/>
                </a:lnTo>
                <a:lnTo>
                  <a:pt x="140716" y="1538478"/>
                </a:lnTo>
                <a:lnTo>
                  <a:pt x="110743" y="1528445"/>
                </a:lnTo>
                <a:lnTo>
                  <a:pt x="110743" y="169037"/>
                </a:lnTo>
                <a:lnTo>
                  <a:pt x="132207" y="99187"/>
                </a:lnTo>
                <a:lnTo>
                  <a:pt x="188595" y="49657"/>
                </a:lnTo>
                <a:lnTo>
                  <a:pt x="226187" y="35687"/>
                </a:lnTo>
                <a:lnTo>
                  <a:pt x="267970" y="30734"/>
                </a:lnTo>
                <a:lnTo>
                  <a:pt x="1651508" y="30734"/>
                </a:lnTo>
                <a:lnTo>
                  <a:pt x="1693291" y="35687"/>
                </a:lnTo>
                <a:lnTo>
                  <a:pt x="1730883" y="49657"/>
                </a:lnTo>
                <a:lnTo>
                  <a:pt x="1762633" y="71247"/>
                </a:lnTo>
                <a:lnTo>
                  <a:pt x="1803146" y="132207"/>
                </a:lnTo>
                <a:lnTo>
                  <a:pt x="1808734" y="169037"/>
                </a:lnTo>
                <a:lnTo>
                  <a:pt x="1808734" y="1613408"/>
                </a:lnTo>
                <a:lnTo>
                  <a:pt x="1744091" y="1556512"/>
                </a:lnTo>
                <a:lnTo>
                  <a:pt x="1735709" y="1556512"/>
                </a:lnTo>
                <a:lnTo>
                  <a:pt x="1725549" y="1565529"/>
                </a:lnTo>
                <a:lnTo>
                  <a:pt x="1725549" y="1572768"/>
                </a:lnTo>
                <a:lnTo>
                  <a:pt x="1808734" y="1646047"/>
                </a:lnTo>
                <a:lnTo>
                  <a:pt x="1808734" y="3019298"/>
                </a:lnTo>
                <a:lnTo>
                  <a:pt x="1813814" y="3057906"/>
                </a:lnTo>
                <a:lnTo>
                  <a:pt x="1828165" y="3093466"/>
                </a:lnTo>
                <a:lnTo>
                  <a:pt x="1850771" y="3124708"/>
                </a:lnTo>
                <a:lnTo>
                  <a:pt x="1880362" y="3150870"/>
                </a:lnTo>
                <a:lnTo>
                  <a:pt x="1915922" y="3170809"/>
                </a:lnTo>
                <a:lnTo>
                  <a:pt x="1956181" y="3183636"/>
                </a:lnTo>
                <a:lnTo>
                  <a:pt x="2000122" y="3188335"/>
                </a:lnTo>
                <a:lnTo>
                  <a:pt x="3428746" y="3194050"/>
                </a:lnTo>
                <a:lnTo>
                  <a:pt x="3472942" y="3189732"/>
                </a:lnTo>
                <a:lnTo>
                  <a:pt x="3513581" y="3177159"/>
                </a:lnTo>
                <a:lnTo>
                  <a:pt x="3549396" y="3157220"/>
                </a:lnTo>
                <a:lnTo>
                  <a:pt x="3579368" y="3131058"/>
                </a:lnTo>
                <a:lnTo>
                  <a:pt x="3602101" y="3099562"/>
                </a:lnTo>
                <a:lnTo>
                  <a:pt x="3616705" y="3064002"/>
                </a:lnTo>
                <a:lnTo>
                  <a:pt x="3621785" y="3025140"/>
                </a:lnTo>
                <a:lnTo>
                  <a:pt x="3621785" y="1603756"/>
                </a:lnTo>
                <a:lnTo>
                  <a:pt x="3676269" y="1651635"/>
                </a:lnTo>
                <a:lnTo>
                  <a:pt x="3684651" y="1651635"/>
                </a:lnTo>
                <a:lnTo>
                  <a:pt x="3694810" y="1642618"/>
                </a:lnTo>
                <a:lnTo>
                  <a:pt x="3694810" y="1635379"/>
                </a:lnTo>
                <a:lnTo>
                  <a:pt x="3621785" y="1571244"/>
                </a:lnTo>
                <a:lnTo>
                  <a:pt x="3621785" y="175514"/>
                </a:lnTo>
                <a:lnTo>
                  <a:pt x="3643122" y="105918"/>
                </a:lnTo>
                <a:lnTo>
                  <a:pt x="3699255" y="56261"/>
                </a:lnTo>
                <a:lnTo>
                  <a:pt x="3736721" y="42291"/>
                </a:lnTo>
                <a:lnTo>
                  <a:pt x="3778377" y="37211"/>
                </a:lnTo>
                <a:lnTo>
                  <a:pt x="5189474" y="31496"/>
                </a:lnTo>
                <a:lnTo>
                  <a:pt x="5231510" y="36322"/>
                </a:lnTo>
                <a:lnTo>
                  <a:pt x="5269230" y="50165"/>
                </a:lnTo>
                <a:lnTo>
                  <a:pt x="5301233" y="71755"/>
                </a:lnTo>
                <a:lnTo>
                  <a:pt x="5341874" y="132842"/>
                </a:lnTo>
                <a:lnTo>
                  <a:pt x="5347461" y="169672"/>
                </a:lnTo>
                <a:lnTo>
                  <a:pt x="5347461" y="1605788"/>
                </a:lnTo>
                <a:lnTo>
                  <a:pt x="5291455" y="1556512"/>
                </a:lnTo>
                <a:lnTo>
                  <a:pt x="5283200" y="1556512"/>
                </a:lnTo>
                <a:lnTo>
                  <a:pt x="5273039" y="1565529"/>
                </a:lnTo>
                <a:lnTo>
                  <a:pt x="5273039" y="1572768"/>
                </a:lnTo>
                <a:lnTo>
                  <a:pt x="5347461" y="1638300"/>
                </a:lnTo>
                <a:lnTo>
                  <a:pt x="5347461" y="3018663"/>
                </a:lnTo>
                <a:lnTo>
                  <a:pt x="5352541" y="3057398"/>
                </a:lnTo>
                <a:lnTo>
                  <a:pt x="5367020" y="3092958"/>
                </a:lnTo>
                <a:lnTo>
                  <a:pt x="5389753" y="3124327"/>
                </a:lnTo>
                <a:lnTo>
                  <a:pt x="5419471" y="3150489"/>
                </a:lnTo>
                <a:lnTo>
                  <a:pt x="5455158" y="3170428"/>
                </a:lnTo>
                <a:lnTo>
                  <a:pt x="5495671" y="3183128"/>
                </a:lnTo>
                <a:lnTo>
                  <a:pt x="5539739" y="3187573"/>
                </a:lnTo>
                <a:lnTo>
                  <a:pt x="6907149" y="3187573"/>
                </a:lnTo>
                <a:lnTo>
                  <a:pt x="6951218" y="3183128"/>
                </a:lnTo>
                <a:lnTo>
                  <a:pt x="6991731" y="3170428"/>
                </a:lnTo>
                <a:lnTo>
                  <a:pt x="7027418" y="3150489"/>
                </a:lnTo>
                <a:lnTo>
                  <a:pt x="7057135" y="3124327"/>
                </a:lnTo>
                <a:lnTo>
                  <a:pt x="7079869" y="3092958"/>
                </a:lnTo>
                <a:lnTo>
                  <a:pt x="7094347" y="3057398"/>
                </a:lnTo>
                <a:lnTo>
                  <a:pt x="7099427" y="3018663"/>
                </a:lnTo>
                <a:lnTo>
                  <a:pt x="7099427" y="1603756"/>
                </a:lnTo>
                <a:lnTo>
                  <a:pt x="7162673" y="1659382"/>
                </a:lnTo>
                <a:lnTo>
                  <a:pt x="7170928" y="1659382"/>
                </a:lnTo>
                <a:lnTo>
                  <a:pt x="7181214" y="1650365"/>
                </a:lnTo>
                <a:lnTo>
                  <a:pt x="7181214" y="1642999"/>
                </a:lnTo>
                <a:lnTo>
                  <a:pt x="7099427" y="1571244"/>
                </a:lnTo>
                <a:lnTo>
                  <a:pt x="7099427" y="176149"/>
                </a:lnTo>
                <a:lnTo>
                  <a:pt x="7120889" y="106425"/>
                </a:lnTo>
                <a:lnTo>
                  <a:pt x="7177278" y="56769"/>
                </a:lnTo>
                <a:lnTo>
                  <a:pt x="7214870" y="42925"/>
                </a:lnTo>
                <a:lnTo>
                  <a:pt x="7256653" y="37973"/>
                </a:lnTo>
                <a:lnTo>
                  <a:pt x="8612505" y="37973"/>
                </a:lnTo>
                <a:lnTo>
                  <a:pt x="8654288" y="42925"/>
                </a:lnTo>
                <a:lnTo>
                  <a:pt x="8691880" y="56769"/>
                </a:lnTo>
                <a:lnTo>
                  <a:pt x="8723630" y="78486"/>
                </a:lnTo>
                <a:lnTo>
                  <a:pt x="8764143" y="139446"/>
                </a:lnTo>
                <a:lnTo>
                  <a:pt x="8769731" y="176149"/>
                </a:lnTo>
                <a:lnTo>
                  <a:pt x="8769731" y="1528445"/>
                </a:lnTo>
                <a:lnTo>
                  <a:pt x="8739759" y="1538478"/>
                </a:lnTo>
                <a:lnTo>
                  <a:pt x="8715629" y="1556385"/>
                </a:lnTo>
                <a:lnTo>
                  <a:pt x="8699754" y="1580515"/>
                </a:lnTo>
                <a:lnTo>
                  <a:pt x="8694039" y="1608963"/>
                </a:lnTo>
                <a:lnTo>
                  <a:pt x="8701278" y="1640840"/>
                </a:lnTo>
                <a:lnTo>
                  <a:pt x="8721344" y="1666875"/>
                </a:lnTo>
                <a:lnTo>
                  <a:pt x="8750935" y="1684401"/>
                </a:lnTo>
                <a:lnTo>
                  <a:pt x="8787257" y="1690878"/>
                </a:lnTo>
                <a:lnTo>
                  <a:pt x="8823452" y="1684401"/>
                </a:lnTo>
                <a:lnTo>
                  <a:pt x="8853043" y="1666875"/>
                </a:lnTo>
                <a:lnTo>
                  <a:pt x="8873109" y="1640840"/>
                </a:lnTo>
                <a:lnTo>
                  <a:pt x="8880348" y="1608963"/>
                </a:lnTo>
                <a:lnTo>
                  <a:pt x="8874633" y="1580515"/>
                </a:lnTo>
                <a:lnTo>
                  <a:pt x="8858631" y="1556385"/>
                </a:lnTo>
                <a:lnTo>
                  <a:pt x="8834755" y="1538478"/>
                </a:lnTo>
                <a:lnTo>
                  <a:pt x="8804656" y="1528445"/>
                </a:lnTo>
                <a:lnTo>
                  <a:pt x="8804656" y="176149"/>
                </a:lnTo>
                <a:lnTo>
                  <a:pt x="8799576" y="137414"/>
                </a:lnTo>
                <a:lnTo>
                  <a:pt x="8785098" y="101854"/>
                </a:lnTo>
                <a:lnTo>
                  <a:pt x="8762491" y="70485"/>
                </a:lnTo>
                <a:lnTo>
                  <a:pt x="8732647" y="44323"/>
                </a:lnTo>
                <a:lnTo>
                  <a:pt x="8696960" y="24384"/>
                </a:lnTo>
                <a:lnTo>
                  <a:pt x="8656574" y="11684"/>
                </a:lnTo>
                <a:lnTo>
                  <a:pt x="8612505" y="7239"/>
                </a:lnTo>
                <a:lnTo>
                  <a:pt x="7256653" y="7239"/>
                </a:lnTo>
                <a:lnTo>
                  <a:pt x="7212583" y="11684"/>
                </a:lnTo>
                <a:lnTo>
                  <a:pt x="7172198" y="24384"/>
                </a:lnTo>
                <a:lnTo>
                  <a:pt x="7136510" y="44323"/>
                </a:lnTo>
                <a:lnTo>
                  <a:pt x="7106665" y="70485"/>
                </a:lnTo>
                <a:lnTo>
                  <a:pt x="7083933" y="101854"/>
                </a:lnTo>
                <a:lnTo>
                  <a:pt x="7069582" y="137414"/>
                </a:lnTo>
                <a:lnTo>
                  <a:pt x="7064502" y="176149"/>
                </a:lnTo>
                <a:lnTo>
                  <a:pt x="7064502" y="1573657"/>
                </a:lnTo>
                <a:lnTo>
                  <a:pt x="6985508" y="1642999"/>
                </a:lnTo>
                <a:lnTo>
                  <a:pt x="6985508" y="1650365"/>
                </a:lnTo>
                <a:lnTo>
                  <a:pt x="6995795" y="1659382"/>
                </a:lnTo>
                <a:lnTo>
                  <a:pt x="7004050" y="1659382"/>
                </a:lnTo>
                <a:lnTo>
                  <a:pt x="7064502" y="1606296"/>
                </a:lnTo>
                <a:lnTo>
                  <a:pt x="7064502" y="3018663"/>
                </a:lnTo>
                <a:lnTo>
                  <a:pt x="7042911" y="3088386"/>
                </a:lnTo>
                <a:lnTo>
                  <a:pt x="6986524" y="3138043"/>
                </a:lnTo>
                <a:lnTo>
                  <a:pt x="6948932" y="3151886"/>
                </a:lnTo>
                <a:lnTo>
                  <a:pt x="6907149" y="3156839"/>
                </a:lnTo>
                <a:lnTo>
                  <a:pt x="5539739" y="3156839"/>
                </a:lnTo>
                <a:lnTo>
                  <a:pt x="5497957" y="3151886"/>
                </a:lnTo>
                <a:lnTo>
                  <a:pt x="5460364" y="3138043"/>
                </a:lnTo>
                <a:lnTo>
                  <a:pt x="5428487" y="3116326"/>
                </a:lnTo>
                <a:lnTo>
                  <a:pt x="5388102" y="3055366"/>
                </a:lnTo>
                <a:lnTo>
                  <a:pt x="5382513" y="3018663"/>
                </a:lnTo>
                <a:lnTo>
                  <a:pt x="5382513" y="1648460"/>
                </a:lnTo>
                <a:lnTo>
                  <a:pt x="5468620" y="1572768"/>
                </a:lnTo>
                <a:lnTo>
                  <a:pt x="5468620" y="1565529"/>
                </a:lnTo>
                <a:lnTo>
                  <a:pt x="5458333" y="1556512"/>
                </a:lnTo>
                <a:lnTo>
                  <a:pt x="5450078" y="1556512"/>
                </a:lnTo>
                <a:lnTo>
                  <a:pt x="5383910" y="1614678"/>
                </a:lnTo>
                <a:lnTo>
                  <a:pt x="5383910" y="1488948"/>
                </a:lnTo>
                <a:lnTo>
                  <a:pt x="5382513" y="1488948"/>
                </a:lnTo>
                <a:lnTo>
                  <a:pt x="5382513" y="169672"/>
                </a:lnTo>
                <a:lnTo>
                  <a:pt x="5377307" y="130810"/>
                </a:lnTo>
                <a:lnTo>
                  <a:pt x="5362829" y="95123"/>
                </a:lnTo>
                <a:lnTo>
                  <a:pt x="5339969" y="63754"/>
                </a:lnTo>
                <a:lnTo>
                  <a:pt x="5309997" y="37592"/>
                </a:lnTo>
                <a:lnTo>
                  <a:pt x="5274183" y="17653"/>
                </a:lnTo>
                <a:lnTo>
                  <a:pt x="5233543" y="5080"/>
                </a:lnTo>
                <a:lnTo>
                  <a:pt x="5189347" y="762"/>
                </a:lnTo>
                <a:lnTo>
                  <a:pt x="3778250" y="6477"/>
                </a:lnTo>
                <a:lnTo>
                  <a:pt x="3734307" y="11175"/>
                </a:lnTo>
                <a:lnTo>
                  <a:pt x="3694049" y="23875"/>
                </a:lnTo>
                <a:lnTo>
                  <a:pt x="3658489" y="43942"/>
                </a:lnTo>
                <a:lnTo>
                  <a:pt x="3628898" y="70104"/>
                </a:lnTo>
                <a:lnTo>
                  <a:pt x="3606292" y="101346"/>
                </a:lnTo>
                <a:lnTo>
                  <a:pt x="3591941" y="136906"/>
                </a:lnTo>
                <a:lnTo>
                  <a:pt x="3586860" y="175514"/>
                </a:lnTo>
                <a:lnTo>
                  <a:pt x="3586860" y="1558290"/>
                </a:lnTo>
                <a:lnTo>
                  <a:pt x="3499230" y="1635379"/>
                </a:lnTo>
                <a:lnTo>
                  <a:pt x="3499230" y="1642618"/>
                </a:lnTo>
                <a:lnTo>
                  <a:pt x="3509518" y="1651635"/>
                </a:lnTo>
                <a:lnTo>
                  <a:pt x="3517773" y="1651635"/>
                </a:lnTo>
                <a:lnTo>
                  <a:pt x="3583940" y="1593469"/>
                </a:lnTo>
                <a:lnTo>
                  <a:pt x="3583940" y="1719326"/>
                </a:lnTo>
                <a:lnTo>
                  <a:pt x="3586860" y="1719326"/>
                </a:lnTo>
                <a:lnTo>
                  <a:pt x="3586860" y="3025140"/>
                </a:lnTo>
                <a:lnTo>
                  <a:pt x="3565271" y="3095117"/>
                </a:lnTo>
                <a:lnTo>
                  <a:pt x="3508502" y="3144647"/>
                </a:lnTo>
                <a:lnTo>
                  <a:pt x="3470782" y="3158490"/>
                </a:lnTo>
                <a:lnTo>
                  <a:pt x="3428873" y="3163316"/>
                </a:lnTo>
                <a:lnTo>
                  <a:pt x="2000250" y="3157601"/>
                </a:lnTo>
                <a:lnTo>
                  <a:pt x="1958594" y="3152521"/>
                </a:lnTo>
                <a:lnTo>
                  <a:pt x="1921129" y="3138424"/>
                </a:lnTo>
                <a:lnTo>
                  <a:pt x="1889506" y="3116834"/>
                </a:lnTo>
                <a:lnTo>
                  <a:pt x="1849247" y="3056001"/>
                </a:lnTo>
                <a:lnTo>
                  <a:pt x="1843659" y="3019298"/>
                </a:lnTo>
                <a:lnTo>
                  <a:pt x="1843659" y="1640840"/>
                </a:lnTo>
                <a:lnTo>
                  <a:pt x="1921129" y="1572768"/>
                </a:lnTo>
                <a:lnTo>
                  <a:pt x="1921129" y="1565529"/>
                </a:lnTo>
                <a:lnTo>
                  <a:pt x="1910842" y="1556512"/>
                </a:lnTo>
                <a:lnTo>
                  <a:pt x="1902587" y="1556512"/>
                </a:lnTo>
                <a:lnTo>
                  <a:pt x="1843659" y="1608201"/>
                </a:lnTo>
                <a:lnTo>
                  <a:pt x="1843659" y="169037"/>
                </a:lnTo>
                <a:lnTo>
                  <a:pt x="1838579" y="130175"/>
                </a:lnTo>
                <a:lnTo>
                  <a:pt x="1824228" y="94615"/>
                </a:lnTo>
                <a:lnTo>
                  <a:pt x="1801495" y="63246"/>
                </a:lnTo>
                <a:lnTo>
                  <a:pt x="1771650" y="37084"/>
                </a:lnTo>
                <a:lnTo>
                  <a:pt x="1735963" y="17145"/>
                </a:lnTo>
                <a:lnTo>
                  <a:pt x="1695577" y="4445"/>
                </a:lnTo>
                <a:lnTo>
                  <a:pt x="1651508" y="0"/>
                </a:lnTo>
                <a:close/>
              </a:path>
            </a:pathLst>
          </a:custGeom>
          <a:solidFill>
            <a:srgbClr val="315E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7566" y="1953040"/>
            <a:ext cx="1268095" cy="90031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59"/>
              </a:spcBef>
            </a:pP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Repositorio</a:t>
            </a:r>
            <a:endParaRPr sz="1750" dirty="0">
              <a:latin typeface="Trebuchet MS"/>
              <a:cs typeface="Trebuchet MS"/>
            </a:endParaRPr>
          </a:p>
          <a:p>
            <a:pPr marL="10795" algn="ctr">
              <a:lnSpc>
                <a:spcPct val="100000"/>
              </a:lnSpc>
              <a:spcBef>
                <a:spcPts val="155"/>
              </a:spcBef>
            </a:pP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remoto</a:t>
            </a:r>
            <a:endParaRPr sz="1750" dirty="0">
              <a:latin typeface="Trebuchet MS"/>
              <a:cs typeface="Trebuchet MS"/>
            </a:endParaRPr>
          </a:p>
          <a:p>
            <a:pPr marL="335280" marR="87630" indent="-323215" algn="ctr">
              <a:lnSpc>
                <a:spcPct val="100699"/>
              </a:lnSpc>
              <a:spcBef>
                <a:spcPts val="770"/>
              </a:spcBef>
            </a:pPr>
            <a:r>
              <a:rPr sz="1400" spc="80" dirty="0">
                <a:solidFill>
                  <a:srgbClr val="2B404F"/>
                </a:solidFill>
                <a:latin typeface="Tahoma"/>
                <a:cs typeface="Tahoma"/>
              </a:rPr>
              <a:t>GitHub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0436" y="1966210"/>
            <a:ext cx="1396365" cy="95123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Desarrollo</a:t>
            </a:r>
            <a:endParaRPr sz="1750">
              <a:latin typeface="Trebuchet MS"/>
              <a:cs typeface="Trebuchet MS"/>
            </a:endParaRPr>
          </a:p>
          <a:p>
            <a:pPr marL="12065" marR="5080" algn="ctr">
              <a:lnSpc>
                <a:spcPct val="100699"/>
              </a:lnSpc>
              <a:spcBef>
                <a:spcPts val="795"/>
              </a:spcBef>
            </a:pPr>
            <a:r>
              <a:rPr sz="1400" dirty="0">
                <a:solidFill>
                  <a:srgbClr val="2B404F"/>
                </a:solidFill>
                <a:latin typeface="Tahoma"/>
                <a:cs typeface="Tahoma"/>
              </a:rPr>
              <a:t>Commit</a:t>
            </a:r>
            <a:r>
              <a:rPr sz="1400" spc="-1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B404F"/>
                </a:solidFill>
                <a:latin typeface="Tahoma"/>
                <a:cs typeface="Tahoma"/>
              </a:rPr>
              <a:t>y</a:t>
            </a:r>
            <a:r>
              <a:rPr sz="1400" spc="-24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B404F"/>
                </a:solidFill>
                <a:latin typeface="Tahoma"/>
                <a:cs typeface="Tahoma"/>
              </a:rPr>
              <a:t>push</a:t>
            </a:r>
            <a:r>
              <a:rPr sz="1400" spc="4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al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branch</a:t>
            </a:r>
            <a:r>
              <a:rPr sz="1400" spc="-2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feature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17457" y="1966210"/>
            <a:ext cx="1252855" cy="95123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85725" indent="-73660">
              <a:lnSpc>
                <a:spcPct val="100000"/>
              </a:lnSpc>
              <a:spcBef>
                <a:spcPts val="1105"/>
              </a:spcBef>
            </a:pP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Producción</a:t>
            </a:r>
            <a:endParaRPr sz="1750">
              <a:latin typeface="Trebuchet MS"/>
              <a:cs typeface="Trebuchet MS"/>
            </a:endParaRPr>
          </a:p>
          <a:p>
            <a:pPr marL="99060" marR="175895" indent="-13970">
              <a:lnSpc>
                <a:spcPct val="100699"/>
              </a:lnSpc>
              <a:spcBef>
                <a:spcPts val="795"/>
              </a:spcBef>
            </a:pPr>
            <a:r>
              <a:rPr sz="1400" spc="50" dirty="0">
                <a:solidFill>
                  <a:srgbClr val="2A404F"/>
                </a:solidFill>
                <a:latin typeface="Tahoma"/>
                <a:cs typeface="Tahoma"/>
              </a:rPr>
              <a:t>Job</a:t>
            </a:r>
            <a:r>
              <a:rPr sz="1400" spc="-1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apunta</a:t>
            </a:r>
            <a:r>
              <a:rPr sz="1400" spc="-2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A404F"/>
                </a:solidFill>
                <a:latin typeface="Tahoma"/>
                <a:cs typeface="Tahoma"/>
              </a:rPr>
              <a:t>a </a:t>
            </a:r>
            <a:r>
              <a:rPr sz="1400" dirty="0">
                <a:solidFill>
                  <a:srgbClr val="2A404F"/>
                </a:solidFill>
                <a:latin typeface="Tahoma"/>
                <a:cs typeface="Tahoma"/>
              </a:rPr>
              <a:t>commit</a:t>
            </a:r>
            <a:r>
              <a:rPr sz="1400" spc="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A404F"/>
                </a:solidFill>
                <a:latin typeface="Tahoma"/>
                <a:cs typeface="Tahoma"/>
              </a:rPr>
              <a:t>SHA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4433" y="3593719"/>
            <a:ext cx="1118870" cy="13265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ctr">
              <a:lnSpc>
                <a:spcPct val="102899"/>
              </a:lnSpc>
              <a:spcBef>
                <a:spcPts val="40"/>
              </a:spcBef>
            </a:pP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Databricks </a:t>
            </a:r>
            <a:r>
              <a:rPr sz="1750" b="1" spc="-20" dirty="0">
                <a:solidFill>
                  <a:srgbClr val="114E71"/>
                </a:solidFill>
                <a:latin typeface="Trebuchet MS"/>
                <a:cs typeface="Trebuchet MS"/>
              </a:rPr>
              <a:t>Repo</a:t>
            </a:r>
            <a:endParaRPr sz="1750">
              <a:latin typeface="Trebuchet MS"/>
              <a:cs typeface="Trebuchet MS"/>
            </a:endParaRPr>
          </a:p>
          <a:p>
            <a:pPr marL="67310" marR="60325" algn="ctr">
              <a:lnSpc>
                <a:spcPct val="103899"/>
              </a:lnSpc>
              <a:spcBef>
                <a:spcPts val="740"/>
              </a:spcBef>
            </a:pP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Sincronizado </a:t>
            </a:r>
            <a:r>
              <a:rPr sz="1400" spc="60" dirty="0">
                <a:solidFill>
                  <a:srgbClr val="2B404F"/>
                </a:solidFill>
                <a:latin typeface="Tahoma"/>
                <a:cs typeface="Tahoma"/>
              </a:rPr>
              <a:t>con</a:t>
            </a:r>
            <a:r>
              <a:rPr sz="1400" spc="-229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branch feature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5949" y="3849370"/>
            <a:ext cx="1308255" cy="107343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ctr">
              <a:lnSpc>
                <a:spcPct val="102899"/>
              </a:lnSpc>
              <a:spcBef>
                <a:spcPts val="40"/>
              </a:spcBef>
            </a:pPr>
            <a:r>
              <a:rPr sz="1750" b="1" spc="-20" dirty="0">
                <a:solidFill>
                  <a:srgbClr val="114E71"/>
                </a:solidFill>
                <a:latin typeface="Trebuchet MS"/>
                <a:cs typeface="Trebuchet MS"/>
              </a:rPr>
              <a:t>Revisión</a:t>
            </a:r>
            <a:r>
              <a:rPr sz="1750" b="1" spc="-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750" b="1" spc="-50" dirty="0">
                <a:solidFill>
                  <a:srgbClr val="114E71"/>
                </a:solidFill>
                <a:latin typeface="Trebuchet MS"/>
                <a:cs typeface="Trebuchet MS"/>
              </a:rPr>
              <a:t>y </a:t>
            </a:r>
            <a:r>
              <a:rPr sz="1750" b="1" spc="-10" dirty="0">
                <a:solidFill>
                  <a:srgbClr val="114E71"/>
                </a:solidFill>
                <a:latin typeface="Trebuchet MS"/>
                <a:cs typeface="Trebuchet MS"/>
              </a:rPr>
              <a:t>merge</a:t>
            </a:r>
            <a:endParaRPr sz="1750" dirty="0">
              <a:latin typeface="Trebuchet MS"/>
              <a:cs typeface="Trebuchet MS"/>
            </a:endParaRPr>
          </a:p>
          <a:p>
            <a:pPr marL="32384" marR="31750" indent="1905" algn="ctr">
              <a:lnSpc>
                <a:spcPct val="105700"/>
              </a:lnSpc>
              <a:spcBef>
                <a:spcPts val="640"/>
              </a:spcBef>
            </a:pP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PR</a:t>
            </a:r>
            <a:r>
              <a:rPr lang="es-419" sz="1400" spc="-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2A404F"/>
                </a:solidFill>
                <a:latin typeface="Tahoma"/>
                <a:cs typeface="Tahoma"/>
              </a:rPr>
              <a:t>revisada</a:t>
            </a:r>
            <a:r>
              <a:rPr lang="es-419" sz="1400" spc="-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y</a:t>
            </a:r>
            <a:r>
              <a:rPr lang="es-419" sz="1400" spc="-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merge</a:t>
            </a:r>
            <a:r>
              <a:rPr lang="es-419" sz="1400" spc="-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lang="es-419" sz="1400" spc="-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A404F"/>
                </a:solidFill>
                <a:latin typeface="Tahoma"/>
                <a:cs typeface="Tahoma"/>
              </a:rPr>
              <a:t>main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32864" y="5344439"/>
            <a:ext cx="4623435" cy="1016000"/>
          </a:xfrm>
          <a:custGeom>
            <a:avLst/>
            <a:gdLst/>
            <a:ahLst/>
            <a:cxnLst/>
            <a:rect l="l" t="t" r="r" b="b"/>
            <a:pathLst>
              <a:path w="4623435" h="1016000">
                <a:moveTo>
                  <a:pt x="4623308" y="0"/>
                </a:moveTo>
                <a:lnTo>
                  <a:pt x="0" y="0"/>
                </a:lnTo>
                <a:lnTo>
                  <a:pt x="0" y="1015796"/>
                </a:lnTo>
                <a:lnTo>
                  <a:pt x="4623308" y="1015796"/>
                </a:lnTo>
                <a:lnTo>
                  <a:pt x="462330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32357" y="5335015"/>
            <a:ext cx="458914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50" b="1" spc="-60" dirty="0">
                <a:solidFill>
                  <a:srgbClr val="114E71"/>
                </a:solidFill>
                <a:latin typeface="Trebuchet MS"/>
                <a:cs typeface="Trebuchet MS"/>
              </a:rPr>
              <a:t>Flujo</a:t>
            </a:r>
            <a:r>
              <a:rPr sz="1450" b="1" spc="-275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spc="45" dirty="0">
                <a:solidFill>
                  <a:srgbClr val="114E71"/>
                </a:solidFill>
                <a:latin typeface="Trebuchet MS"/>
                <a:cs typeface="Trebuchet MS"/>
              </a:rPr>
              <a:t>recomendado</a:t>
            </a:r>
            <a:r>
              <a:rPr sz="1450" b="1" spc="-180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114E71"/>
                </a:solidFill>
                <a:latin typeface="Trebuchet MS"/>
                <a:cs typeface="Trebuchet MS"/>
              </a:rPr>
              <a:t>de</a:t>
            </a:r>
            <a:r>
              <a:rPr sz="1450" b="1" spc="-160" dirty="0">
                <a:solidFill>
                  <a:srgbClr val="114E71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114E71"/>
                </a:solidFill>
                <a:latin typeface="Trebuchet MS"/>
                <a:cs typeface="Trebuchet MS"/>
              </a:rPr>
              <a:t>trabajo</a:t>
            </a:r>
            <a:endParaRPr sz="1450">
              <a:latin typeface="Trebuchet MS"/>
              <a:cs typeface="Trebuchet MS"/>
            </a:endParaRPr>
          </a:p>
          <a:p>
            <a:pPr marL="12700" marR="5080" algn="just">
              <a:lnSpc>
                <a:spcPct val="137800"/>
              </a:lnSpc>
              <a:spcBef>
                <a:spcPts val="365"/>
              </a:spcBef>
            </a:pP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Siempre</a:t>
            </a:r>
            <a:r>
              <a:rPr sz="11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desarrollar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en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b="1" spc="-35" dirty="0">
                <a:solidFill>
                  <a:srgbClr val="2A404F"/>
                </a:solidFill>
                <a:latin typeface="Trebuchet MS"/>
                <a:cs typeface="Trebuchet MS"/>
              </a:rPr>
              <a:t>feature</a:t>
            </a:r>
            <a:r>
              <a:rPr sz="1150" b="1" spc="-90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5" dirty="0">
                <a:solidFill>
                  <a:srgbClr val="2A404F"/>
                </a:solidFill>
                <a:latin typeface="Trebuchet MS"/>
                <a:cs typeface="Trebuchet MS"/>
              </a:rPr>
              <a:t>branches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,</a:t>
            </a:r>
            <a:r>
              <a:rPr sz="1150" spc="-16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5" dirty="0">
                <a:solidFill>
                  <a:srgbClr val="2A404F"/>
                </a:solidFill>
                <a:latin typeface="Tahoma"/>
                <a:cs typeface="Tahoma"/>
              </a:rPr>
              <a:t>nunca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directamente</a:t>
            </a:r>
            <a:r>
              <a:rPr sz="1150" spc="-15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en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main.</a:t>
            </a:r>
            <a:r>
              <a:rPr sz="1150" spc="-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El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30" dirty="0">
                <a:solidFill>
                  <a:srgbClr val="2A404F"/>
                </a:solidFill>
                <a:latin typeface="Tahoma"/>
                <a:cs typeface="Tahoma"/>
              </a:rPr>
              <a:t>Job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de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5" dirty="0">
                <a:solidFill>
                  <a:srgbClr val="2A404F"/>
                </a:solidFill>
                <a:latin typeface="Tahoma"/>
                <a:cs typeface="Tahoma"/>
              </a:rPr>
              <a:t>producción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debe</a:t>
            </a:r>
            <a:r>
              <a:rPr sz="11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apuntar</a:t>
            </a:r>
            <a:r>
              <a:rPr sz="11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b="1" spc="15" dirty="0">
                <a:solidFill>
                  <a:srgbClr val="2A404F"/>
                </a:solidFill>
                <a:latin typeface="Trebuchet MS"/>
                <a:cs typeface="Trebuchet MS"/>
              </a:rPr>
              <a:t>a</a:t>
            </a:r>
            <a:r>
              <a:rPr sz="1150" b="1" spc="-110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2A404F"/>
                </a:solidFill>
                <a:latin typeface="Trebuchet MS"/>
                <a:cs typeface="Trebuchet MS"/>
              </a:rPr>
              <a:t>un</a:t>
            </a:r>
            <a:r>
              <a:rPr sz="1150" b="1" spc="-114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2A404F"/>
                </a:solidFill>
                <a:latin typeface="Trebuchet MS"/>
                <a:cs typeface="Trebuchet MS"/>
              </a:rPr>
              <a:t>commit</a:t>
            </a:r>
            <a:r>
              <a:rPr sz="1150" b="1" spc="-95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40" dirty="0">
                <a:solidFill>
                  <a:srgbClr val="2A404F"/>
                </a:solidFill>
                <a:latin typeface="Trebuchet MS"/>
                <a:cs typeface="Trebuchet MS"/>
              </a:rPr>
              <a:t>SHA</a:t>
            </a:r>
            <a:r>
              <a:rPr sz="1150" b="1" spc="-114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5" dirty="0">
                <a:solidFill>
                  <a:srgbClr val="2A404F"/>
                </a:solidFill>
                <a:latin typeface="Trebuchet MS"/>
                <a:cs typeface="Trebuchet MS"/>
              </a:rPr>
              <a:t>específico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,</a:t>
            </a:r>
            <a:r>
              <a:rPr sz="1150" spc="-15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no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5" dirty="0">
                <a:solidFill>
                  <a:srgbClr val="2A404F"/>
                </a:solidFill>
                <a:latin typeface="Tahoma"/>
                <a:cs typeface="Tahoma"/>
              </a:rPr>
              <a:t>la</a:t>
            </a:r>
            <a:r>
              <a:rPr sz="1150" spc="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punt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de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una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A404F"/>
                </a:solidFill>
                <a:latin typeface="Tahoma"/>
                <a:cs typeface="Tahoma"/>
              </a:rPr>
              <a:t>rama,</a:t>
            </a:r>
            <a:r>
              <a:rPr sz="11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par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15" dirty="0">
                <a:solidFill>
                  <a:srgbClr val="2A404F"/>
                </a:solidFill>
                <a:latin typeface="Tahoma"/>
                <a:cs typeface="Tahoma"/>
              </a:rPr>
              <a:t>garantizar</a:t>
            </a:r>
            <a:r>
              <a:rPr sz="1150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reproducibilidad.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02477" y="5344439"/>
            <a:ext cx="4737100" cy="1016000"/>
          </a:xfrm>
          <a:custGeom>
            <a:avLst/>
            <a:gdLst/>
            <a:ahLst/>
            <a:cxnLst/>
            <a:rect l="l" t="t" r="r" b="b"/>
            <a:pathLst>
              <a:path w="4737100" h="1016000">
                <a:moveTo>
                  <a:pt x="4737100" y="0"/>
                </a:moveTo>
                <a:lnTo>
                  <a:pt x="0" y="0"/>
                </a:lnTo>
                <a:lnTo>
                  <a:pt x="0" y="1015796"/>
                </a:lnTo>
                <a:lnTo>
                  <a:pt x="4737100" y="1015796"/>
                </a:lnTo>
                <a:lnTo>
                  <a:pt x="47371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02858" y="5335015"/>
            <a:ext cx="4718050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50" b="1" spc="-10" dirty="0">
                <a:solidFill>
                  <a:srgbClr val="114E71"/>
                </a:solidFill>
                <a:latin typeface="Trebuchet MS"/>
                <a:cs typeface="Trebuchet MS"/>
              </a:rPr>
              <a:t>Precauciónimportante</a:t>
            </a:r>
            <a:endParaRPr sz="1450">
              <a:latin typeface="Trebuchet MS"/>
              <a:cs typeface="Trebuchet MS"/>
            </a:endParaRPr>
          </a:p>
          <a:p>
            <a:pPr marL="12700" marR="5080" algn="just">
              <a:lnSpc>
                <a:spcPct val="137800"/>
              </a:lnSpc>
              <a:spcBef>
                <a:spcPts val="365"/>
              </a:spcBef>
            </a:pPr>
            <a:r>
              <a:rPr sz="1150" spc="15" dirty="0">
                <a:solidFill>
                  <a:srgbClr val="2A404F"/>
                </a:solidFill>
                <a:latin typeface="Tahoma"/>
                <a:cs typeface="Tahoma"/>
              </a:rPr>
              <a:t>Los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cambios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A404F"/>
                </a:solidFill>
                <a:latin typeface="Tahoma"/>
                <a:cs typeface="Tahoma"/>
              </a:rPr>
              <a:t>realizados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en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2A404F"/>
                </a:solidFill>
                <a:latin typeface="Tahoma"/>
                <a:cs typeface="Tahoma"/>
              </a:rPr>
              <a:t>el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A404F"/>
                </a:solidFill>
                <a:latin typeface="Tahoma"/>
                <a:cs typeface="Tahoma"/>
              </a:rPr>
              <a:t>Databricks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Repo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que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b="1" spc="-5" dirty="0">
                <a:solidFill>
                  <a:srgbClr val="2A404F"/>
                </a:solidFill>
                <a:latin typeface="Trebuchet MS"/>
                <a:cs typeface="Trebuchet MS"/>
              </a:rPr>
              <a:t>no</a:t>
            </a:r>
            <a:r>
              <a:rPr sz="1150" b="1" spc="-120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30" dirty="0">
                <a:solidFill>
                  <a:srgbClr val="2A404F"/>
                </a:solidFill>
                <a:latin typeface="Trebuchet MS"/>
                <a:cs typeface="Trebuchet MS"/>
              </a:rPr>
              <a:t>se</a:t>
            </a:r>
            <a:r>
              <a:rPr sz="1150" b="1" spc="-125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2A404F"/>
                </a:solidFill>
                <a:latin typeface="Trebuchet MS"/>
                <a:cs typeface="Trebuchet MS"/>
              </a:rPr>
              <a:t>hayan</a:t>
            </a:r>
            <a:r>
              <a:rPr sz="1150" b="1" spc="-130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2A404F"/>
                </a:solidFill>
                <a:latin typeface="Trebuchet MS"/>
                <a:cs typeface="Trebuchet MS"/>
              </a:rPr>
              <a:t>enviado</a:t>
            </a:r>
            <a:r>
              <a:rPr sz="1150" b="1" spc="-110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5" dirty="0">
                <a:solidFill>
                  <a:srgbClr val="2A404F"/>
                </a:solidFill>
                <a:latin typeface="Trebuchet MS"/>
                <a:cs typeface="Trebuchet MS"/>
              </a:rPr>
              <a:t>al </a:t>
            </a:r>
            <a:r>
              <a:rPr sz="1150" b="1" spc="-20" dirty="0">
                <a:solidFill>
                  <a:srgbClr val="2A404F"/>
                </a:solidFill>
                <a:latin typeface="Trebuchet MS"/>
                <a:cs typeface="Trebuchet MS"/>
              </a:rPr>
              <a:t>repositorio</a:t>
            </a:r>
            <a:r>
              <a:rPr sz="1150" b="1" spc="-95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2A404F"/>
                </a:solidFill>
                <a:latin typeface="Trebuchet MS"/>
                <a:cs typeface="Trebuchet MS"/>
              </a:rPr>
              <a:t>remoto</a:t>
            </a:r>
            <a:r>
              <a:rPr sz="1150" b="1" spc="-85" dirty="0">
                <a:solidFill>
                  <a:srgbClr val="2A404F"/>
                </a:solidFill>
                <a:latin typeface="Trebuchet MS"/>
                <a:cs typeface="Trebuchet MS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se</a:t>
            </a:r>
            <a:r>
              <a:rPr sz="11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pierden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si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2A404F"/>
                </a:solidFill>
                <a:latin typeface="Tahoma"/>
                <a:cs typeface="Tahoma"/>
              </a:rPr>
              <a:t>el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workspace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se</a:t>
            </a:r>
            <a:r>
              <a:rPr sz="115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recrea</a:t>
            </a:r>
            <a:r>
              <a:rPr sz="1150" spc="-14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o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si</a:t>
            </a:r>
            <a:r>
              <a:rPr sz="1150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se</a:t>
            </a:r>
            <a:r>
              <a:rPr sz="1150" spc="-14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sincroniza</a:t>
            </a:r>
            <a:r>
              <a:rPr sz="1150" spc="-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2A404F"/>
                </a:solidFill>
                <a:latin typeface="Tahoma"/>
                <a:cs typeface="Tahoma"/>
              </a:rPr>
              <a:t>con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15" dirty="0">
                <a:solidFill>
                  <a:srgbClr val="2A404F"/>
                </a:solidFill>
                <a:latin typeface="Tahoma"/>
                <a:cs typeface="Tahoma"/>
              </a:rPr>
              <a:t>otro</a:t>
            </a:r>
            <a:r>
              <a:rPr sz="115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5" dirty="0">
                <a:solidFill>
                  <a:srgbClr val="2A404F"/>
                </a:solidFill>
                <a:latin typeface="Tahoma"/>
                <a:cs typeface="Tahoma"/>
              </a:rPr>
              <a:t>commit.</a:t>
            </a:r>
            <a:r>
              <a:rPr sz="1150" spc="-15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2A404F"/>
                </a:solidFill>
                <a:latin typeface="Tahoma"/>
                <a:cs typeface="Tahoma"/>
              </a:rPr>
              <a:t>Hacer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2A404F"/>
                </a:solidFill>
                <a:latin typeface="Tahoma"/>
                <a:cs typeface="Tahoma"/>
              </a:rPr>
              <a:t>push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frecuente</a:t>
            </a:r>
            <a:r>
              <a:rPr sz="1150" spc="-15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A404F"/>
                </a:solidFill>
                <a:latin typeface="Tahoma"/>
                <a:cs typeface="Tahoma"/>
              </a:rPr>
              <a:t>es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A404F"/>
                </a:solidFill>
                <a:latin typeface="Tahoma"/>
                <a:cs typeface="Tahoma"/>
              </a:rPr>
              <a:t>una</a:t>
            </a:r>
            <a:r>
              <a:rPr sz="1150" spc="-13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15" dirty="0">
                <a:solidFill>
                  <a:srgbClr val="2A404F"/>
                </a:solidFill>
                <a:latin typeface="Tahoma"/>
                <a:cs typeface="Tahoma"/>
              </a:rPr>
              <a:t>práctica</a:t>
            </a:r>
            <a:r>
              <a:rPr sz="115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A404F"/>
                </a:solidFill>
                <a:latin typeface="Tahoma"/>
                <a:cs typeface="Tahoma"/>
              </a:rPr>
              <a:t>obligatoria.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B983BF1-3094-B4A4-E9F0-22E8AE2A6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4" y="367990"/>
            <a:ext cx="10917045" cy="614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42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7CB5C73-415B-34D3-8A9E-9FEA3EA15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70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0C84F9-92FB-F9B6-8430-23C2547B7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39" y="390291"/>
            <a:ext cx="10746537" cy="60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9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8BC7ECE-37D0-639A-9A1B-B9BFD2E4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36" y="189572"/>
            <a:ext cx="11016505" cy="62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1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659A9B-3535-13B8-B6F6-6FD601E11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63" y="401443"/>
            <a:ext cx="10411999" cy="585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0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0051A6F-A9C3-B9FE-7FEE-3F1B96D56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33" y="390292"/>
            <a:ext cx="10601571" cy="59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45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3BF4688-1281-1B12-7CD7-21E5500F4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75" y="434898"/>
            <a:ext cx="10481531" cy="589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16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EE7C21-AE05-915C-BB02-4E09CBD8E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19" y="100418"/>
            <a:ext cx="10426305" cy="675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34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7115ED7D-F78B-8804-58E6-25D8F0489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714" y="587165"/>
            <a:ext cx="10189029" cy="57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89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38437E6C-01A8-A883-8B42-43E456685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04" y="309061"/>
            <a:ext cx="10784378" cy="606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5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330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EDBC2021-F8A1-715B-019A-AE0308BF1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370D57-274C-439E-8C4D-CFADF95BCFAC}"/>
              </a:ext>
            </a:extLst>
          </p:cNvPr>
          <p:cNvSpPr txBox="1"/>
          <p:nvPr/>
        </p:nvSpPr>
        <p:spPr>
          <a:xfrm>
            <a:off x="3371609" y="2967335"/>
            <a:ext cx="51111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6000" b="1" dirty="0">
                <a:solidFill>
                  <a:schemeClr val="bg1"/>
                </a:solidFill>
                <a:latin typeface="Geometria" panose="020B0403020204020204" pitchFamily="34" charset="0"/>
              </a:rPr>
              <a:t>¡GRACIAS!</a:t>
            </a:r>
            <a:endParaRPr lang="es-PE" sz="6000" b="1" dirty="0">
              <a:solidFill>
                <a:srgbClr val="00EDFF"/>
              </a:solidFill>
              <a:latin typeface="Geometria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85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4707</TotalTime>
  <Words>853</Words>
  <Application>Microsoft Macintosh PowerPoint</Application>
  <PresentationFormat>Panorámica</PresentationFormat>
  <Paragraphs>118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5" baseType="lpstr">
      <vt:lpstr>Akhand-Black</vt:lpstr>
      <vt:lpstr>Aptos</vt:lpstr>
      <vt:lpstr>Aptos Display</vt:lpstr>
      <vt:lpstr>Aptos Narrow</vt:lpstr>
      <vt:lpstr>Arial</vt:lpstr>
      <vt:lpstr>Arial MT</vt:lpstr>
      <vt:lpstr>Geometria</vt:lpstr>
      <vt:lpstr>Panton</vt:lpstr>
      <vt:lpstr>Tahoma</vt:lpstr>
      <vt:lpstr>Trebuchet MS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Databricks Databricks es una plataforma unificada de datos e IA que ejecuta cargas de trabajo analíticas y operativas sobre una base abierta y gobernada. Permite a las organizaciones crear aplicaciones de BI e IA, transmitir y analizar datos, y procesar operaciones di arias con seguridad, rendimiento y gobernanza consistentes, todo ello sin añadir complejidad ni tener que copiar datos.</vt:lpstr>
      <vt:lpstr>Control Plane vs Data Plane</vt:lpstr>
      <vt:lpstr>Presentación de PowerPoint</vt:lpstr>
      <vt:lpstr>Databricks Runtime (DBR)</vt:lpstr>
      <vt:lpstr>Tipos de Cluster en Databricks</vt:lpstr>
      <vt:lpstr>Workspace y Organización de Artefactos El Workspace de Databricks organiza todos los artefactos del equipo. La estructura de carpetas y la elección entre Workspace nativo y Repos tiene implicaciones directas en la gobernanza y el control de versiones.</vt:lpstr>
      <vt:lpstr>Databricks Repos e Integración Git Databricks Repos conecta el entorno de desarrollo directamente con repositorios Git remotos. Este flujo garantiza trazabilidad, revisión de código y despliegue controlado en entornos de producción.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</dc:creator>
  <cp:lastModifiedBy>Juan Miguel Salinas Ponce</cp:lastModifiedBy>
  <cp:revision>38</cp:revision>
  <dcterms:created xsi:type="dcterms:W3CDTF">2025-05-08T00:16:45Z</dcterms:created>
  <dcterms:modified xsi:type="dcterms:W3CDTF">2026-10-01T13:49:40Z</dcterms:modified>
</cp:coreProperties>
</file>